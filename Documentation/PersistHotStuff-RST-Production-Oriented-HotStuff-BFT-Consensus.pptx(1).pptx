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rial" charset="1" panose="020B0604020202020204"/>
      <p:regular r:id="rId24"/>
    </p:embeddedFont>
    <p:embeddedFont>
      <p:font typeface="Lato" charset="1" panose="020F0502020204030203"/>
      <p:regular r:id="rId25"/>
    </p:embeddedFont>
    <p:embeddedFont>
      <p:font typeface="Arimo" charset="1" panose="020B0604020202020204"/>
      <p:regular r:id="rId26"/>
    </p:embeddedFont>
    <p:embeddedFont>
      <p:font typeface="Lato Bold" charset="1" panose="020F0502020204030203"/>
      <p:regular r:id="rId27"/>
    </p:embeddedFont>
    <p:embeddedFont>
      <p:font typeface="Consolas" charset="1" panose="020B0609020204030204"/>
      <p:regular r:id="rId34"/>
    </p:embeddedFont>
    <p:embeddedFont>
      <p:font typeface="Arimo Bold" charset="1" panose="020B07040202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3.png" Type="http://schemas.openxmlformats.org/officeDocument/2006/relationships/image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https://arxiv.org/abs/1803.05069" TargetMode="External" Type="http://schemas.openxmlformats.org/officeDocument/2006/relationships/hyperlink"/><Relationship Id="rId5" Target="https://www.sciencedirect.com/science/article/pii/S138376212500058X/pdfft?md5=ee8b23380ced014b22b6b6fed0fd6e36&amp;pid=1-s2.0-S138376212500058X-main.pdf" TargetMode="External" Type="http://schemas.openxmlformats.org/officeDocument/2006/relationships/hyperlink"/><Relationship Id="rId6" Target="https://raft.github.io/raft.pdf" TargetMode="External" Type="http://schemas.openxmlformats.org/officeDocument/2006/relationships/hyperlink"/><Relationship Id="rId7" Target="https://tendermint.com/static/docs/tendermint.pdf" TargetMode="External" Type="http://schemas.openxmlformats.org/officeDocument/2006/relationships/hyperlink"/><Relationship Id="rId8" Target="../media/image1.png" Type="http://schemas.openxmlformats.org/officeDocument/2006/relationships/image"/><Relationship Id="rId9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1.pn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tendermint.com/static/docs/tendermint.pdf" TargetMode="External" Type="http://schemas.openxmlformats.org/officeDocument/2006/relationships/hyperlink"/><Relationship Id="rId11" Target="https://grpc.io" TargetMode="External" Type="http://schemas.openxmlformats.org/officeDocument/2006/relationships/hyperlink"/><Relationship Id="rId12" Target="https://dl.acm.org/doi/10.1145/42282.42283" TargetMode="External" Type="http://schemas.openxmlformats.org/officeDocument/2006/relationships/hyperlink"/><Relationship Id="rId13" Target="https://ieeexplore.ieee.org/document/9519456" TargetMode="External" Type="http://schemas.openxmlformats.org/officeDocument/2006/relationships/hyperlink"/><Relationship Id="rId14" Target="https://www.researchgate.net/publication/%20220896380_A_TLA_proof_system" TargetMode="External" Type="http://schemas.openxmlformats.org/officeDocument/2006/relationships/hyperlink"/><Relationship Id="rId15" Target="../media/image1.png" Type="http://schemas.openxmlformats.org/officeDocument/2006/relationships/image"/><Relationship Id="rId16" Target="../media/image2.jpeg" Type="http://schemas.openxmlformats.org/officeDocument/2006/relationships/image"/><Relationship Id="rId2" Target="https://arxiv.org/abs/1803.05069" TargetMode="External" Type="http://schemas.openxmlformats.org/officeDocument/2006/relationships/hyperlink"/><Relationship Id="rId3" Target="https://css.csail.mit.edu/6.824/2014/papers/castro-practicalbft.pdf" TargetMode="External" Type="http://schemas.openxmlformats.org/officeDocument/2006/relationships/hyperlink"/><Relationship Id="rId4" Target="https://raft.github.io/raft.pdf" TargetMode="External" Type="http://schemas.openxmlformats.org/officeDocument/2006/relationships/hyperlink"/><Relationship Id="rId5" Target="https://arxiv.org/pdf/2408.04728" TargetMode="External" Type="http://schemas.openxmlformats.org/officeDocument/2006/relationships/hyperlink"/><Relationship Id="rId6" Target="https://doi.org/10.1016/j.sysarc.2025.103056" TargetMode="External" Type="http://schemas.openxmlformats.org/officeDocument/2006/relationships/hyperlink"/><Relationship Id="rId7" Target="https://doi.org/10.1016/j.sysarc.2025.103056" TargetMode="External" Type="http://schemas.openxmlformats.org/officeDocument/2006/relationships/hyperlink"/><Relationship Id="rId8" Target="https://www.sciencedirect.com/science/article/pii/S138376212500058X/pdfft?crasolve=1&amp;r=9d70d91eef57e0c2&amp;ts=1772626964340&amp;rtype=https&amp;vrr=UKN&amp;redir=UKN&amp;redir_fr=UKN&amp;redir_arc=UKN&amp;vhash=UKN&amp;host=d3d3LnNjaWVuY2VkaXJlY3QuY29t&amp;tsoh=d3d3LnNjaWVuY2VkaXJlY3QuY29t&amp;rh=d3d3LnNjaWVuY2VkaXJlY3QuY29t&amp;re=X2JsYW5rXw%3D%3D&amp;ns_h=d3d3LnNjaWVuY2VkaXJlY3QuY29t&amp;ns_e=X2JsYW5rXw%3D%3D&amp;rh_fd=rrr)n%5Ed%60i%5E%60_dm%60%5Eo)%5Ejh&amp;tsoh_fd=rrr)n%5Ed%60i%5E%60_dm%60%5Eo)%5Ejh&amp;hc=~rrr)n%5Ed%60i%5E%60_dm%60%5Eo)%5Ejhwrrr)n%5Ed%60i%5E%60_dm%60%5Eo)%5Ejhwrrr)n%5Ed%60i%5E%60_dm%60%5Eo)%5Ejh&amp;iv=e34aa262b09bbcb982b0dd790d542403&amp;token=34653861323766326238656539323934623231373264376264666339313935353363616233353837373633623666356336643630373831663562316134346635326562656166356364323964633333373261383636633730383539373463636164323064353234636461366531313032313835313233306234376135643235313a666161333235343236343332366539336336613639643734&amp;text=5d71565eeea180e071626be7d4ec4cafeddbfdc32715fac4ebb4b0cb7109d5875aa147daffaefe862fdab1a1461b9bd8bcc48c2eeb5eba0de4d118fe972724edf46f36fd42ea87873f37aa10596dba57749182badd89a746461502b35cdf05e4d93fb7739c379937c0d13fa38f6e063f7c4211c8c3338c6f72521c5446cf8414195fa3e4ce000a9f3d8872b5d10023d28e79008b4d08e65fb90927de325379ce6a8702087dd240f39b1fc1bd29bce2f670648523bfd21dca75fbc01953dea3601b6de3c1ddc5aa2412f034388511844d346c2dbec6043983bc13447ff8be2430887f7663fd72a9d4fd6ce2fd542127cda8c360012b83eb7e7915af99ce0b2c2a636338cf9b4c670af72e25764aafa14beec454e04379d13ba627b32ea9c7c0955bc919dc1b6af5d091a534f5ea97cfb7&amp;original=3f6d64353d6565386232333338306365643031346232326236623666656430666436653336267069643d312d73322e302d53313338333736323132353030303538582d6d61696e2e706466&amp;chkp=1c&amp;rack=9d70d91eef57e0c2" TargetMode="External" Type="http://schemas.openxmlformats.org/officeDocument/2006/relationships/hyperlink"/><Relationship Id="rId9" Target="https://www.scs.stanford.edu/24sp-cs244b/projects/HotStuff_Implementation_and_Advice.pdf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888663"/>
            <a:ext cx="18288000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rsistHotStuff: Production-Oriented HotStuff BFT Consensus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77658" y="2252462"/>
            <a:ext cx="1040430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aanvi Shet - 612203164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Tejas Kolhe - 612203097</a:t>
            </a:r>
          </a:p>
          <a:p>
            <a:pPr algn="ctr">
              <a:lnSpc>
                <a:spcPts val="360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277658" y="4095550"/>
            <a:ext cx="10404300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Dr.Vahida Attar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March 2026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1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48584" y="545419"/>
            <a:ext cx="17477838" cy="9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Motivation: Why BFT for critical replicated services?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1578" y="2159617"/>
            <a:ext cx="17964845" cy="562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Byzantine faults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A replica performing arbitrary/malicious behavior: lie, send conflicting messages to different peers (equivocation), omit messages, replay old messages, or follow a different/buggy protocol version.</a:t>
            </a:r>
          </a:p>
          <a:p>
            <a:pPr algn="l">
              <a:lnSpc>
                <a:spcPts val="4071"/>
              </a:lnSpc>
            </a:pPr>
          </a:p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Safety required under adversarial conditions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Safety in distributed systems ensures that "bad things" never happen, maintaining system correctness, data integrity, and consistency even during failures</a:t>
            </a:r>
          </a:p>
          <a:p>
            <a:pPr algn="l">
              <a:lnSpc>
                <a:spcPts val="4071"/>
              </a:lnSpc>
            </a:pPr>
          </a:p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Consensus 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is needed for replicated state machines: process where multiple independent nodes (computers) agree on a single data value or state even when some nodes fail or network issues occur</a:t>
            </a:r>
          </a:p>
          <a:p>
            <a:pPr algn="l">
              <a:lnSpc>
                <a:spcPts val="4071"/>
              </a:lnSpc>
            </a:pPr>
          </a:p>
          <a:p>
            <a:pPr algn="l" marL="377031" indent="-188515" lvl="1">
              <a:lnSpc>
                <a:spcPts val="4071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Deployments face crashes and restarts too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. It risks forgetting critical protocol state, which can break safety after restart if the node behaves like it’s “fresh.”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>
            <a:off x="0" y="8671498"/>
            <a:ext cx="18383249" cy="0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92243" y="408302"/>
            <a:ext cx="16267062" cy="9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0544" y="1685057"/>
            <a:ext cx="16303523" cy="202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HotStuff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is a l</a:t>
            </a: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eader-based Byzantine Fault Tolerant (BFT) consensus protocol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known for its linear view changes, high responsiveness, and safety in partially synchronous networks.</a:t>
            </a:r>
          </a:p>
          <a:p>
            <a:pPr algn="l">
              <a:lnSpc>
                <a:spcPts val="4071"/>
              </a:lnSpc>
            </a:pPr>
          </a:p>
          <a:p>
            <a:pPr algn="l" marL="377031" indent="-188515" lvl="1">
              <a:lnSpc>
                <a:spcPts val="4071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However there exist four practical limitations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6256" y="4197027"/>
            <a:ext cx="16313048" cy="4093073"/>
            <a:chOff x="0" y="0"/>
            <a:chExt cx="21750731" cy="54574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50655" cy="5457444"/>
            </a:xfrm>
            <a:custGeom>
              <a:avLst/>
              <a:gdLst/>
              <a:ahLst/>
              <a:cxnLst/>
              <a:rect r="r" b="b" t="t" l="l"/>
              <a:pathLst>
                <a:path h="5457444" w="2175065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21585301" y="0"/>
                  </a:lnTo>
                  <a:lnTo>
                    <a:pt x="21585301" y="6350"/>
                  </a:lnTo>
                  <a:lnTo>
                    <a:pt x="21585301" y="0"/>
                  </a:lnTo>
                  <a:cubicBezTo>
                    <a:pt x="21676615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5292344"/>
                  </a:lnTo>
                  <a:lnTo>
                    <a:pt x="21744305" y="5292344"/>
                  </a:lnTo>
                  <a:lnTo>
                    <a:pt x="21750655" y="5292344"/>
                  </a:lnTo>
                  <a:cubicBezTo>
                    <a:pt x="21750655" y="5383530"/>
                    <a:pt x="21676615" y="5457444"/>
                    <a:pt x="21585301" y="5457444"/>
                  </a:cubicBezTo>
                  <a:lnTo>
                    <a:pt x="21585301" y="5451094"/>
                  </a:lnTo>
                  <a:lnTo>
                    <a:pt x="21585301" y="5457444"/>
                  </a:lnTo>
                  <a:lnTo>
                    <a:pt x="165354" y="5457444"/>
                  </a:lnTo>
                  <a:lnTo>
                    <a:pt x="165354" y="5451094"/>
                  </a:lnTo>
                  <a:lnTo>
                    <a:pt x="165354" y="5457444"/>
                  </a:lnTo>
                  <a:cubicBezTo>
                    <a:pt x="74041" y="5457444"/>
                    <a:pt x="0" y="5383530"/>
                    <a:pt x="0" y="529234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292344"/>
                  </a:lnTo>
                  <a:lnTo>
                    <a:pt x="6350" y="5292344"/>
                  </a:lnTo>
                  <a:lnTo>
                    <a:pt x="12700" y="5292344"/>
                  </a:lnTo>
                  <a:cubicBezTo>
                    <a:pt x="12700" y="5376545"/>
                    <a:pt x="81026" y="5444744"/>
                    <a:pt x="165354" y="5444744"/>
                  </a:cubicBezTo>
                  <a:lnTo>
                    <a:pt x="21585301" y="5444744"/>
                  </a:lnTo>
                  <a:cubicBezTo>
                    <a:pt x="21669629" y="5444744"/>
                    <a:pt x="21737955" y="5376545"/>
                    <a:pt x="21737955" y="5292344"/>
                  </a:cubicBezTo>
                  <a:lnTo>
                    <a:pt x="21737955" y="165100"/>
                  </a:lnTo>
                  <a:cubicBezTo>
                    <a:pt x="21737955" y="80899"/>
                    <a:pt x="21669629" y="12700"/>
                    <a:pt x="2158530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0544" y="4211314"/>
            <a:ext cx="16284473" cy="812902"/>
            <a:chOff x="0" y="0"/>
            <a:chExt cx="21712631" cy="10838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4065" y="4286171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Limitation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91064" y="4286171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Impact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60544" y="5024206"/>
            <a:ext cx="16284473" cy="812902"/>
            <a:chOff x="0" y="0"/>
            <a:chExt cx="21712631" cy="10838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44065" y="5099073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L1 Persistence + crash recovery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91064" y="5099073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Safety breaks 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after restart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0544" y="5837108"/>
            <a:ext cx="16284473" cy="812902"/>
            <a:chOff x="0" y="0"/>
            <a:chExt cx="21712631" cy="108386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44065" y="5911974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L2 Dynamic membership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91064" y="5911974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Can’t add/remove replicas safely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60544" y="6650009"/>
            <a:ext cx="16284473" cy="812902"/>
            <a:chOff x="0" y="0"/>
            <a:chExt cx="21712631" cy="10838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4065" y="6724866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L3 Pluggable state machine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91064" y="6724866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Hard to integrate real applications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60544" y="7462911"/>
            <a:ext cx="16284473" cy="812902"/>
            <a:chOff x="0" y="0"/>
            <a:chExt cx="21712631" cy="10838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44065" y="7537768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L4 Enhanced pacemaker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91064" y="7537768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Liveness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fragile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under delays/failures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31221" y="815405"/>
            <a:ext cx="3320415" cy="917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3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Objectives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5312" y="2089852"/>
            <a:ext cx="16577367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O1: Write Ahead Log (WAL) + snapshots + deterministic recovery</a:t>
            </a:r>
          </a:p>
          <a:p>
            <a:pPr algn="l" marL="377031" indent="-18851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O2: Safe membership transitions</a:t>
            </a:r>
          </a:p>
          <a:p>
            <a:pPr algn="l" marL="377031" indent="-18851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O3: Clean, pluggable state-machine API</a:t>
            </a:r>
          </a:p>
          <a:p>
            <a:pPr algn="l" marL="377031" indent="-18851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O4: Robust pacemaker (timeouts, leader rotation)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63857" y="4575877"/>
            <a:ext cx="16586892" cy="3206801"/>
            <a:chOff x="0" y="0"/>
            <a:chExt cx="22115856" cy="42757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15780" cy="4275836"/>
            </a:xfrm>
            <a:custGeom>
              <a:avLst/>
              <a:gdLst/>
              <a:ahLst/>
              <a:cxnLst/>
              <a:rect r="r" b="b" t="t" l="l"/>
              <a:pathLst>
                <a:path h="4275836" w="22115780">
                  <a:moveTo>
                    <a:pt x="0" y="143256"/>
                  </a:moveTo>
                  <a:cubicBezTo>
                    <a:pt x="0" y="64135"/>
                    <a:pt x="64262" y="0"/>
                    <a:pt x="143510" y="0"/>
                  </a:cubicBezTo>
                  <a:lnTo>
                    <a:pt x="21972271" y="0"/>
                  </a:lnTo>
                  <a:lnTo>
                    <a:pt x="21972271" y="6350"/>
                  </a:lnTo>
                  <a:lnTo>
                    <a:pt x="21972271" y="0"/>
                  </a:lnTo>
                  <a:cubicBezTo>
                    <a:pt x="22051519" y="0"/>
                    <a:pt x="22115780" y="64135"/>
                    <a:pt x="22115780" y="143256"/>
                  </a:cubicBezTo>
                  <a:lnTo>
                    <a:pt x="22109430" y="143256"/>
                  </a:lnTo>
                  <a:lnTo>
                    <a:pt x="22115780" y="143256"/>
                  </a:lnTo>
                  <a:lnTo>
                    <a:pt x="22115780" y="4132580"/>
                  </a:lnTo>
                  <a:lnTo>
                    <a:pt x="22109430" y="4132580"/>
                  </a:lnTo>
                  <a:lnTo>
                    <a:pt x="22115780" y="4132580"/>
                  </a:lnTo>
                  <a:cubicBezTo>
                    <a:pt x="22115780" y="4211701"/>
                    <a:pt x="22051519" y="4275836"/>
                    <a:pt x="21972271" y="4275836"/>
                  </a:cubicBezTo>
                  <a:lnTo>
                    <a:pt x="21972271" y="4269486"/>
                  </a:lnTo>
                  <a:lnTo>
                    <a:pt x="21972271" y="4275836"/>
                  </a:lnTo>
                  <a:lnTo>
                    <a:pt x="143510" y="4275836"/>
                  </a:lnTo>
                  <a:lnTo>
                    <a:pt x="143510" y="4269486"/>
                  </a:lnTo>
                  <a:lnTo>
                    <a:pt x="143510" y="4275836"/>
                  </a:lnTo>
                  <a:cubicBezTo>
                    <a:pt x="64262" y="4275709"/>
                    <a:pt x="0" y="4211701"/>
                    <a:pt x="0" y="4132580"/>
                  </a:cubicBezTo>
                  <a:lnTo>
                    <a:pt x="0" y="143256"/>
                  </a:lnTo>
                  <a:lnTo>
                    <a:pt x="6350" y="143256"/>
                  </a:lnTo>
                  <a:lnTo>
                    <a:pt x="0" y="143256"/>
                  </a:lnTo>
                  <a:moveTo>
                    <a:pt x="12700" y="143256"/>
                  </a:moveTo>
                  <a:lnTo>
                    <a:pt x="12700" y="4132580"/>
                  </a:lnTo>
                  <a:lnTo>
                    <a:pt x="6350" y="4132580"/>
                  </a:lnTo>
                  <a:lnTo>
                    <a:pt x="12700" y="4132580"/>
                  </a:lnTo>
                  <a:cubicBezTo>
                    <a:pt x="12700" y="4204589"/>
                    <a:pt x="71247" y="4263136"/>
                    <a:pt x="143510" y="4263136"/>
                  </a:cubicBezTo>
                  <a:lnTo>
                    <a:pt x="21972271" y="4263136"/>
                  </a:lnTo>
                  <a:cubicBezTo>
                    <a:pt x="22044533" y="4263136"/>
                    <a:pt x="22103080" y="4204716"/>
                    <a:pt x="22103080" y="4132580"/>
                  </a:cubicBezTo>
                  <a:lnTo>
                    <a:pt x="22103080" y="143256"/>
                  </a:lnTo>
                  <a:cubicBezTo>
                    <a:pt x="22103080" y="71247"/>
                    <a:pt x="22044533" y="12700"/>
                    <a:pt x="21972271" y="12700"/>
                  </a:cubicBezTo>
                  <a:lnTo>
                    <a:pt x="143510" y="12700"/>
                  </a:lnTo>
                  <a:lnTo>
                    <a:pt x="143510" y="6350"/>
                  </a:lnTo>
                  <a:lnTo>
                    <a:pt x="143510" y="12700"/>
                  </a:lnTo>
                  <a:cubicBezTo>
                    <a:pt x="71247" y="12700"/>
                    <a:pt x="12700" y="71120"/>
                    <a:pt x="12700" y="143256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78145" y="4590164"/>
            <a:ext cx="16558317" cy="635641"/>
            <a:chOff x="0" y="0"/>
            <a:chExt cx="22077756" cy="847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077807" cy="847471"/>
            </a:xfrm>
            <a:custGeom>
              <a:avLst/>
              <a:gdLst/>
              <a:ahLst/>
              <a:cxnLst/>
              <a:rect r="r" b="b" t="t" l="l"/>
              <a:pathLst>
                <a:path h="847471" w="22077807">
                  <a:moveTo>
                    <a:pt x="0" y="0"/>
                  </a:moveTo>
                  <a:lnTo>
                    <a:pt x="22077807" y="0"/>
                  </a:lnTo>
                  <a:lnTo>
                    <a:pt x="22077807" y="847471"/>
                  </a:lnTo>
                  <a:lnTo>
                    <a:pt x="0" y="84747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2671" y="4649848"/>
            <a:ext cx="49707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Lx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491659" y="4649848"/>
            <a:ext cx="49659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Ox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83026" y="4673365"/>
            <a:ext cx="513620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Success criteria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8145" y="5225815"/>
            <a:ext cx="16558317" cy="635641"/>
            <a:chOff x="0" y="0"/>
            <a:chExt cx="22077756" cy="8475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077807" cy="847471"/>
            </a:xfrm>
            <a:custGeom>
              <a:avLst/>
              <a:gdLst/>
              <a:ahLst/>
              <a:cxnLst/>
              <a:rect r="r" b="b" t="t" l="l"/>
              <a:pathLst>
                <a:path h="847471" w="22077807">
                  <a:moveTo>
                    <a:pt x="0" y="0"/>
                  </a:moveTo>
                  <a:lnTo>
                    <a:pt x="22077807" y="0"/>
                  </a:lnTo>
                  <a:lnTo>
                    <a:pt x="22077807" y="847471"/>
                  </a:lnTo>
                  <a:lnTo>
                    <a:pt x="0" y="8474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2671" y="5285489"/>
            <a:ext cx="49707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91659" y="5285489"/>
            <a:ext cx="49659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83026" y="5309007"/>
            <a:ext cx="621657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Restart yields same committed chain/state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78145" y="5861457"/>
            <a:ext cx="16558317" cy="635641"/>
            <a:chOff x="0" y="0"/>
            <a:chExt cx="22077756" cy="84752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077807" cy="847471"/>
            </a:xfrm>
            <a:custGeom>
              <a:avLst/>
              <a:gdLst/>
              <a:ahLst/>
              <a:cxnLst/>
              <a:rect r="r" b="b" t="t" l="l"/>
              <a:pathLst>
                <a:path h="847471" w="22077807">
                  <a:moveTo>
                    <a:pt x="0" y="0"/>
                  </a:moveTo>
                  <a:lnTo>
                    <a:pt x="22077807" y="0"/>
                  </a:lnTo>
                  <a:lnTo>
                    <a:pt x="22077807" y="847471"/>
                  </a:lnTo>
                  <a:lnTo>
                    <a:pt x="0" y="84747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22671" y="5921140"/>
            <a:ext cx="49707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91659" y="5921140"/>
            <a:ext cx="49659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83026" y="5890032"/>
            <a:ext cx="61539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Reconfig does not violate quorum safety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78145" y="6497098"/>
            <a:ext cx="16558317" cy="635641"/>
            <a:chOff x="0" y="0"/>
            <a:chExt cx="22077756" cy="8475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077807" cy="847471"/>
            </a:xfrm>
            <a:custGeom>
              <a:avLst/>
              <a:gdLst/>
              <a:ahLst/>
              <a:cxnLst/>
              <a:rect r="r" b="b" t="t" l="l"/>
              <a:pathLst>
                <a:path h="847471" w="22077807">
                  <a:moveTo>
                    <a:pt x="0" y="0"/>
                  </a:moveTo>
                  <a:lnTo>
                    <a:pt x="22077807" y="0"/>
                  </a:lnTo>
                  <a:lnTo>
                    <a:pt x="22077807" y="847471"/>
                  </a:lnTo>
                  <a:lnTo>
                    <a:pt x="0" y="8474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22671" y="6556782"/>
            <a:ext cx="49707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91659" y="6556782"/>
            <a:ext cx="49659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83026" y="6525673"/>
            <a:ext cx="696813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App logic swappable without consensus rewrite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78145" y="7132749"/>
            <a:ext cx="16558317" cy="635641"/>
            <a:chOff x="0" y="0"/>
            <a:chExt cx="22077756" cy="8475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77807" cy="847471"/>
            </a:xfrm>
            <a:custGeom>
              <a:avLst/>
              <a:gdLst/>
              <a:ahLst/>
              <a:cxnLst/>
              <a:rect r="r" b="b" t="t" l="l"/>
              <a:pathLst>
                <a:path h="847471" w="22077807">
                  <a:moveTo>
                    <a:pt x="0" y="0"/>
                  </a:moveTo>
                  <a:lnTo>
                    <a:pt x="22077807" y="0"/>
                  </a:lnTo>
                  <a:lnTo>
                    <a:pt x="22077807" y="847471"/>
                  </a:lnTo>
                  <a:lnTo>
                    <a:pt x="0" y="84747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22671" y="7192423"/>
            <a:ext cx="497070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L4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491659" y="7192423"/>
            <a:ext cx="496594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O4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83026" y="7161314"/>
            <a:ext cx="735343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Progress continues despite of leader/network stalls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1"/>
              </a:stretch>
            </a:blipFill>
          </p:spPr>
        </p:sp>
      </p:grpSp>
      <p:sp>
        <p:nvSpPr>
          <p:cNvPr name="AutoShape 37" id="37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8" id="38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547" y="184021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547" y="184021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388018" y="1028700"/>
          <a:ext cx="17571058" cy="7715250"/>
        </p:xfrm>
        <a:graphic>
          <a:graphicData uri="http://schemas.openxmlformats.org/drawingml/2006/table">
            <a:tbl>
              <a:tblPr/>
              <a:tblGrid>
                <a:gridCol w="2493636"/>
                <a:gridCol w="6032448"/>
                <a:gridCol w="9044975"/>
              </a:tblGrid>
              <a:tr h="8902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Protocol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FFFFFF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Paper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220"/>
                        </a:lnSpc>
                        <a:defRPr/>
                      </a:pPr>
                      <a:r>
                        <a:rPr lang="en-US" sz="2300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</a:tr>
              <a:tr h="224948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Hotstuff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4" tooltip="https://arxiv.org/abs/1803.05069"/>
                        </a:rPr>
                        <a:t>“HotStuff: BFT Consensus in the Lens of Blockchain”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3" indent="-269871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Reduction of communication complexity to O(n) per decision (vs. O(n²)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 PBFT).'</a:t>
                      </a:r>
                      <a:endParaRPr lang="en-US" sz="1100"/>
                    </a:p>
                    <a:p>
                      <a:pPr algn="l" marL="539743" indent="-269871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Proof that a 3-chain commit rule is suﬀicient and necessary for safety.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4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DynaNet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5" tooltip="https://www.sciencedirect.com/science/article/pii/S138376212500058X/pdfft?md5=ee8b23380ced014b22b6b6fed0fd6e36&amp;pid=1-s2.0-S138376212500058X-main.pdf"/>
                        </a:rPr>
                        <a:t>“DynaNet: A Dynamic BFT Consensus Framework”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Explores reconfiguration in BFT systems and proposes flexible mem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bership management under Byzantine faults.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1873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RAFT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  <a:hlinkClick r:id="rId6" tooltip="https://raft.github.io/raft.pdf"/>
                        </a:rPr>
                        <a:t>“The Raft Consensus Algorithm”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Raft uses Write-Ahead Logging (WAL) and periodic snapshots to ensure 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that nodes can reboot without losing committed entries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84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Tendermint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u="sng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  <a:hlinkClick r:id="rId7" tooltip="https://tendermint.com/static/docs/tendermint.pdf"/>
                        </a:rPr>
                        <a:t>“Tendermint ABCI (Application Blockchain Interface)”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Allows arbitrary applications to connect over a message-based 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790926" y="128588"/>
            <a:ext cx="16303523" cy="900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Literature Review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3" b="-1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 flipV="true">
            <a:off x="29547" y="8845829"/>
            <a:ext cx="18288000" cy="0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7434" y="4665588"/>
            <a:ext cx="17873132" cy="3593868"/>
            <a:chOff x="0" y="0"/>
            <a:chExt cx="21750731" cy="4373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50655" cy="4373499"/>
            </a:xfrm>
            <a:custGeom>
              <a:avLst/>
              <a:gdLst/>
              <a:ahLst/>
              <a:cxnLst/>
              <a:rect r="r" b="b" t="t" l="l"/>
              <a:pathLst>
                <a:path h="4373499" w="21750655">
                  <a:moveTo>
                    <a:pt x="0" y="165100"/>
                  </a:moveTo>
                  <a:cubicBezTo>
                    <a:pt x="0" y="73914"/>
                    <a:pt x="74168" y="0"/>
                    <a:pt x="165481" y="0"/>
                  </a:cubicBezTo>
                  <a:lnTo>
                    <a:pt x="21585174" y="0"/>
                  </a:lnTo>
                  <a:lnTo>
                    <a:pt x="21585174" y="6350"/>
                  </a:lnTo>
                  <a:lnTo>
                    <a:pt x="21585174" y="0"/>
                  </a:lnTo>
                  <a:cubicBezTo>
                    <a:pt x="21676613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4208399"/>
                  </a:lnTo>
                  <a:lnTo>
                    <a:pt x="21744305" y="4208399"/>
                  </a:lnTo>
                  <a:lnTo>
                    <a:pt x="21750655" y="4208399"/>
                  </a:lnTo>
                  <a:cubicBezTo>
                    <a:pt x="21750655" y="4299585"/>
                    <a:pt x="21676488" y="4373499"/>
                    <a:pt x="21585174" y="4373499"/>
                  </a:cubicBezTo>
                  <a:lnTo>
                    <a:pt x="21585174" y="4367149"/>
                  </a:lnTo>
                  <a:lnTo>
                    <a:pt x="21585174" y="4373499"/>
                  </a:lnTo>
                  <a:lnTo>
                    <a:pt x="165481" y="4373499"/>
                  </a:lnTo>
                  <a:lnTo>
                    <a:pt x="165481" y="4367149"/>
                  </a:lnTo>
                  <a:lnTo>
                    <a:pt x="165481" y="4373499"/>
                  </a:lnTo>
                  <a:cubicBezTo>
                    <a:pt x="74041" y="4373499"/>
                    <a:pt x="0" y="4299585"/>
                    <a:pt x="0" y="420839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208399"/>
                  </a:lnTo>
                  <a:lnTo>
                    <a:pt x="6350" y="4208399"/>
                  </a:lnTo>
                  <a:lnTo>
                    <a:pt x="12700" y="4208399"/>
                  </a:lnTo>
                  <a:cubicBezTo>
                    <a:pt x="12700" y="4292600"/>
                    <a:pt x="81153" y="4360799"/>
                    <a:pt x="165481" y="4360799"/>
                  </a:cubicBezTo>
                  <a:lnTo>
                    <a:pt x="21585174" y="4360799"/>
                  </a:lnTo>
                  <a:cubicBezTo>
                    <a:pt x="21669629" y="4360799"/>
                    <a:pt x="21737955" y="4292600"/>
                    <a:pt x="21737955" y="4208399"/>
                  </a:cubicBezTo>
                  <a:lnTo>
                    <a:pt x="21737955" y="165100"/>
                  </a:lnTo>
                  <a:cubicBezTo>
                    <a:pt x="21737955" y="80899"/>
                    <a:pt x="21669502" y="12700"/>
                    <a:pt x="2158517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088" y="4681242"/>
            <a:ext cx="17841824" cy="890643"/>
            <a:chOff x="0" y="0"/>
            <a:chExt cx="21712631" cy="10838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23088" y="5571885"/>
            <a:ext cx="17841824" cy="890643"/>
            <a:chOff x="0" y="0"/>
            <a:chExt cx="21712631" cy="10838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23088" y="6462517"/>
            <a:ext cx="17841824" cy="890643"/>
            <a:chOff x="0" y="0"/>
            <a:chExt cx="21712631" cy="10838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3088" y="7353160"/>
            <a:ext cx="17841824" cy="890643"/>
            <a:chOff x="0" y="0"/>
            <a:chExt cx="21712631" cy="10838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14" id="14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028700" y="1295604"/>
            <a:ext cx="16195540" cy="3369984"/>
          </a:xfrm>
          <a:custGeom>
            <a:avLst/>
            <a:gdLst/>
            <a:ahLst/>
            <a:cxnLst/>
            <a:rect r="r" b="b" t="t" l="l"/>
            <a:pathLst>
              <a:path h="3369984" w="16195540">
                <a:moveTo>
                  <a:pt x="0" y="0"/>
                </a:moveTo>
                <a:lnTo>
                  <a:pt x="16195540" y="0"/>
                </a:lnTo>
                <a:lnTo>
                  <a:pt x="16195540" y="3369984"/>
                </a:lnTo>
                <a:lnTo>
                  <a:pt x="0" y="33699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5712" r="0" b="-25712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80096" y="448137"/>
            <a:ext cx="11778258" cy="9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Broad Design - Part 1 (Process Flow)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724" y="4763753"/>
            <a:ext cx="8294434" cy="52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0"/>
              </a:lnSpc>
            </a:pPr>
            <a:r>
              <a:rPr lang="en-US" sz="273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61366" y="4832649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Identifies a leader’s term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724" y="5654396"/>
            <a:ext cx="8294434" cy="52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0"/>
              </a:lnSpc>
            </a:pPr>
            <a:r>
              <a:rPr lang="en-US" sz="273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Leader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61366" y="5779438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Proposes blocks for the view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724" y="6545038"/>
            <a:ext cx="8294434" cy="52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0"/>
              </a:lnSpc>
            </a:pPr>
            <a:r>
              <a:rPr lang="en-US" sz="273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Replica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61366" y="6614927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Votes on a proposed block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3724" y="7435671"/>
            <a:ext cx="8294434" cy="52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0"/>
              </a:lnSpc>
            </a:pPr>
            <a:r>
              <a:rPr lang="en-US" sz="273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QC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61366" y="7451317"/>
            <a:ext cx="7570441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Collection of signed votes from replicas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497" y="5712609"/>
            <a:ext cx="16331803" cy="2774918"/>
            <a:chOff x="0" y="0"/>
            <a:chExt cx="21775738" cy="36998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775674" cy="3699891"/>
            </a:xfrm>
            <a:custGeom>
              <a:avLst/>
              <a:gdLst/>
              <a:ahLst/>
              <a:cxnLst/>
              <a:rect r="r" b="b" t="t" l="l"/>
              <a:pathLst>
                <a:path h="3699891" w="21775674">
                  <a:moveTo>
                    <a:pt x="0" y="58361"/>
                  </a:moveTo>
                  <a:cubicBezTo>
                    <a:pt x="0" y="26171"/>
                    <a:pt x="25400" y="0"/>
                    <a:pt x="56642" y="0"/>
                  </a:cubicBezTo>
                  <a:lnTo>
                    <a:pt x="21719031" y="0"/>
                  </a:lnTo>
                  <a:cubicBezTo>
                    <a:pt x="21750401" y="0"/>
                    <a:pt x="21775674" y="26171"/>
                    <a:pt x="21775674" y="58361"/>
                  </a:cubicBezTo>
                  <a:lnTo>
                    <a:pt x="21775674" y="3641530"/>
                  </a:lnTo>
                  <a:cubicBezTo>
                    <a:pt x="21775674" y="3673852"/>
                    <a:pt x="21750274" y="3699891"/>
                    <a:pt x="21719031" y="3699891"/>
                  </a:cubicBezTo>
                  <a:lnTo>
                    <a:pt x="56642" y="3699891"/>
                  </a:lnTo>
                  <a:cubicBezTo>
                    <a:pt x="25273" y="3699891"/>
                    <a:pt x="0" y="3673721"/>
                    <a:pt x="0" y="364153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7177" y="652653"/>
            <a:ext cx="16303523" cy="9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Part 2 - ( Consensus Logic 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19316"/>
            <a:ext cx="7173317" cy="254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Constraints - </a:t>
            </a:r>
          </a:p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f - Number of byzantine replicas</a:t>
            </a:r>
          </a:p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n - Total number of replicas</a:t>
            </a:r>
          </a:p>
          <a:p>
            <a:pPr algn="l" marL="376872" indent="-188436" lvl="1">
              <a:lnSpc>
                <a:spcPts val="4069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Quorum size - 2f + 1</a:t>
            </a:r>
          </a:p>
          <a:p>
            <a:pPr algn="l" marL="376872" indent="-188436" lvl="1">
              <a:lnSpc>
                <a:spcPts val="4071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Total number of replicas &gt;= 3f + 1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1013" y="5791696"/>
            <a:ext cx="15764770" cy="258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9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QC1 -&gt; 2*f + 1 (quorum size)</a:t>
            </a:r>
          </a:p>
          <a:p>
            <a:pPr algn="l">
              <a:lnSpc>
                <a:spcPts val="4069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QC2 -&gt; 2*f + 1 (quorum size)</a:t>
            </a:r>
          </a:p>
          <a:p>
            <a:pPr algn="l">
              <a:lnSpc>
                <a:spcPts val="4069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QC3 -&gt; 2*f + 1 (quorum size)</a:t>
            </a:r>
          </a:p>
          <a:p>
            <a:pPr algn="l">
              <a:lnSpc>
                <a:spcPts val="4069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Quorum intersection ( QC1 ∩ QC2 ) -&gt; f + 1 (assuming &gt;=3*f+1 number of replicas)</a:t>
            </a:r>
          </a:p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This guarantees at least 1 honest node once a chain of 3 QC’s is formed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876674" y="1562066"/>
            <a:ext cx="8078453" cy="4150544"/>
          </a:xfrm>
          <a:custGeom>
            <a:avLst/>
            <a:gdLst/>
            <a:ahLst/>
            <a:cxnLst/>
            <a:rect r="r" b="b" t="t" l="l"/>
            <a:pathLst>
              <a:path h="4150544" w="8078453">
                <a:moveTo>
                  <a:pt x="0" y="0"/>
                </a:moveTo>
                <a:lnTo>
                  <a:pt x="8078452" y="0"/>
                </a:lnTo>
                <a:lnTo>
                  <a:pt x="8078452" y="4150543"/>
                </a:lnTo>
                <a:lnTo>
                  <a:pt x="0" y="4150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1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21934" y="2156441"/>
            <a:ext cx="8337366" cy="6349898"/>
          </a:xfrm>
          <a:custGeom>
            <a:avLst/>
            <a:gdLst/>
            <a:ahLst/>
            <a:cxnLst/>
            <a:rect r="r" b="b" t="t" l="l"/>
            <a:pathLst>
              <a:path h="6349898" w="8337366">
                <a:moveTo>
                  <a:pt x="0" y="0"/>
                </a:moveTo>
                <a:lnTo>
                  <a:pt x="8337366" y="0"/>
                </a:lnTo>
                <a:lnTo>
                  <a:pt x="8337366" y="6349898"/>
                </a:lnTo>
                <a:lnTo>
                  <a:pt x="0" y="6349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1475" y="1931176"/>
            <a:ext cx="8374547" cy="6377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768" indent="-242384" lvl="1">
              <a:lnSpc>
                <a:spcPts val="4642"/>
              </a:lnSpc>
              <a:buFont typeface="Arial"/>
              <a:buChar char="•"/>
            </a:pPr>
            <a:r>
              <a:rPr lang="en-US" b="true" sz="3214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Per replica core logic</a:t>
            </a:r>
            <a:r>
              <a:rPr lang="en-US" sz="3214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HotStuff + QC handling</a:t>
            </a:r>
          </a:p>
          <a:p>
            <a:pPr algn="l" marL="484563" indent="-242282" lvl="1">
              <a:lnSpc>
                <a:spcPts val="4642"/>
              </a:lnSpc>
              <a:buFont typeface="Arial"/>
              <a:buChar char="•"/>
            </a:pPr>
            <a:r>
              <a:rPr lang="en-US" b="true" sz="3214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Networking transport</a:t>
            </a:r>
            <a:r>
              <a:rPr lang="en-US" sz="3214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Pluggable abstraction</a:t>
            </a:r>
          </a:p>
          <a:p>
            <a:pPr algn="l" marL="484768" indent="-242384" lvl="1">
              <a:lnSpc>
                <a:spcPts val="4642"/>
              </a:lnSpc>
              <a:buFont typeface="Arial"/>
              <a:buChar char="•"/>
            </a:pPr>
            <a:r>
              <a:rPr lang="en-US" b="true" sz="3214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Persistence</a:t>
            </a:r>
            <a:r>
              <a:rPr lang="en-US" sz="3214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WAL + snapshots; Recovery module</a:t>
            </a:r>
          </a:p>
          <a:p>
            <a:pPr algn="l" marL="484563" indent="-242282" lvl="1">
              <a:lnSpc>
                <a:spcPts val="4641"/>
              </a:lnSpc>
              <a:buFont typeface="Arial"/>
              <a:buChar char="•"/>
            </a:pPr>
            <a:r>
              <a:rPr lang="en-US" b="true" sz="3214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Membership manager</a:t>
            </a:r>
            <a:r>
              <a:rPr lang="en-US" sz="3214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configuration changes</a:t>
            </a:r>
          </a:p>
          <a:p>
            <a:pPr algn="l" marL="484563" indent="-242282" lvl="1">
              <a:lnSpc>
                <a:spcPts val="4641"/>
              </a:lnSpc>
              <a:buFont typeface="Arial"/>
              <a:buChar char="•"/>
            </a:pPr>
            <a:r>
              <a:rPr lang="en-US" b="true" sz="3214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Pacemaker</a:t>
            </a:r>
            <a:r>
              <a:rPr lang="en-US" sz="3214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Liveness</a:t>
            </a:r>
          </a:p>
          <a:p>
            <a:pPr algn="l" marL="484563" indent="-242282" lvl="1">
              <a:lnSpc>
                <a:spcPts val="4641"/>
              </a:lnSpc>
              <a:buFont typeface="Arial"/>
              <a:buChar char="•"/>
            </a:pPr>
            <a:r>
              <a:rPr lang="en-US" b="true" sz="3214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Crypto</a:t>
            </a:r>
            <a:r>
              <a:rPr lang="en-US" sz="3214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signatures and QC verification</a:t>
            </a:r>
          </a:p>
          <a:p>
            <a:pPr algn="l">
              <a:lnSpc>
                <a:spcPts val="464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-1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7177" y="652653"/>
            <a:ext cx="16303523" cy="9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Part 2 - ( System Architecture 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3739" y="4950771"/>
            <a:ext cx="8632087" cy="3006125"/>
            <a:chOff x="0" y="0"/>
            <a:chExt cx="8764384" cy="30521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64270" cy="3052137"/>
            </a:xfrm>
            <a:custGeom>
              <a:avLst/>
              <a:gdLst/>
              <a:ahLst/>
              <a:cxnLst/>
              <a:rect r="r" b="b" t="t" l="l"/>
              <a:pathLst>
                <a:path h="3052137" w="8764270">
                  <a:moveTo>
                    <a:pt x="0" y="37087"/>
                  </a:moveTo>
                  <a:cubicBezTo>
                    <a:pt x="0" y="16629"/>
                    <a:pt x="17653" y="0"/>
                    <a:pt x="39370" y="0"/>
                  </a:cubicBezTo>
                  <a:lnTo>
                    <a:pt x="8724900" y="0"/>
                  </a:lnTo>
                  <a:cubicBezTo>
                    <a:pt x="8746617" y="0"/>
                    <a:pt x="8764270" y="16629"/>
                    <a:pt x="8764270" y="37087"/>
                  </a:cubicBezTo>
                  <a:lnTo>
                    <a:pt x="8764270" y="3015050"/>
                  </a:lnTo>
                  <a:cubicBezTo>
                    <a:pt x="8764270" y="3035508"/>
                    <a:pt x="8746617" y="3052137"/>
                    <a:pt x="8724900" y="3052137"/>
                  </a:cubicBezTo>
                  <a:lnTo>
                    <a:pt x="39370" y="3052137"/>
                  </a:lnTo>
                  <a:cubicBezTo>
                    <a:pt x="17653" y="3052137"/>
                    <a:pt x="0" y="3035508"/>
                    <a:pt x="0" y="3015050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90525" y="8836885"/>
            <a:ext cx="1317450" cy="1450115"/>
            <a:chOff x="0" y="0"/>
            <a:chExt cx="1756600" cy="1933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1905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8208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3495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826383" y="1695627"/>
            <a:ext cx="7624097" cy="6510288"/>
          </a:xfrm>
          <a:custGeom>
            <a:avLst/>
            <a:gdLst/>
            <a:ahLst/>
            <a:cxnLst/>
            <a:rect r="r" b="b" t="t" l="l"/>
            <a:pathLst>
              <a:path h="6510288" w="7624097">
                <a:moveTo>
                  <a:pt x="0" y="0"/>
                </a:moveTo>
                <a:lnTo>
                  <a:pt x="7624096" y="0"/>
                </a:lnTo>
                <a:lnTo>
                  <a:pt x="7624096" y="6510288"/>
                </a:lnTo>
                <a:lnTo>
                  <a:pt x="0" y="6510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9181" y="792002"/>
            <a:ext cx="14909159" cy="90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M1 - Persistence/Recovery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2304" y="2406009"/>
            <a:ext cx="7383166" cy="213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43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WAL records </a:t>
            </a: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proposals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QCs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commits 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deterministically</a:t>
            </a:r>
          </a:p>
          <a:p>
            <a:pPr algn="l" marL="377031" indent="-188515" lvl="1">
              <a:lnSpc>
                <a:spcPts val="3437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Snapshot 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compacts state; speeds recovery</a:t>
            </a:r>
          </a:p>
          <a:p>
            <a:pPr algn="l" marL="377031" indent="-188515" lvl="1">
              <a:lnSpc>
                <a:spcPts val="3437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Recovery replays WAL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; restores safe committed state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2304" y="5067749"/>
            <a:ext cx="8114957" cy="313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Crash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|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Load snapshot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|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Replay WAL sequentially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|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Restore chain &amp; state (same commits)</a:t>
            </a:r>
          </a:p>
          <a:p>
            <a:pPr algn="l">
              <a:lnSpc>
                <a:spcPts val="3069"/>
              </a:lnSpc>
            </a:pPr>
            <a:r>
              <a:rPr lang="en-US" sz="2232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5487" y="779877"/>
            <a:ext cx="14909159" cy="90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 M2 - Dynamic Membership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85143" y="2840790"/>
            <a:ext cx="13886289" cy="84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872" indent="-188436" lvl="1">
              <a:lnSpc>
                <a:spcPts val="343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Config changes via explicit</a:t>
            </a: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 “reconfig tx”</a:t>
            </a:r>
          </a:p>
          <a:p>
            <a:pPr algn="l" marL="377031" indent="-188515" lvl="1">
              <a:lnSpc>
                <a:spcPts val="3437"/>
              </a:lnSpc>
              <a:buFont typeface="Arial"/>
              <a:buChar char="•"/>
            </a:pPr>
            <a:r>
              <a:rPr lang="en-US" b="true" sz="2499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Safety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: quorum intersections across configs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978356" y="4652128"/>
            <a:ext cx="15280944" cy="3259138"/>
            <a:chOff x="0" y="0"/>
            <a:chExt cx="20000645" cy="42657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00441" cy="4265676"/>
            </a:xfrm>
            <a:custGeom>
              <a:avLst/>
              <a:gdLst/>
              <a:ahLst/>
              <a:cxnLst/>
              <a:rect r="r" b="b" t="t" l="l"/>
              <a:pathLst>
                <a:path h="4265676" w="20000441">
                  <a:moveTo>
                    <a:pt x="0" y="185977"/>
                  </a:moveTo>
                  <a:cubicBezTo>
                    <a:pt x="0" y="83347"/>
                    <a:pt x="113077" y="0"/>
                    <a:pt x="252316" y="0"/>
                  </a:cubicBezTo>
                  <a:lnTo>
                    <a:pt x="19748125" y="0"/>
                  </a:lnTo>
                  <a:cubicBezTo>
                    <a:pt x="19887654" y="0"/>
                    <a:pt x="20000441" y="83347"/>
                    <a:pt x="20000441" y="185977"/>
                  </a:cubicBezTo>
                  <a:lnTo>
                    <a:pt x="20000441" y="4079699"/>
                  </a:lnTo>
                  <a:cubicBezTo>
                    <a:pt x="20000441" y="4182543"/>
                    <a:pt x="19887363" y="4265676"/>
                    <a:pt x="19748125" y="4265676"/>
                  </a:cubicBezTo>
                  <a:lnTo>
                    <a:pt x="252316" y="4265676"/>
                  </a:lnTo>
                  <a:cubicBezTo>
                    <a:pt x="112787" y="4265676"/>
                    <a:pt x="0" y="4182328"/>
                    <a:pt x="0" y="4079699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04230" y="4680249"/>
            <a:ext cx="14168087" cy="3102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 5: Leader proposes "AddValidator(R4)"     ← just a command in a block</a:t>
            </a:r>
          </a:p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 6: Block gets QC</a:t>
            </a:r>
          </a:p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 7: Block gets QC</a:t>
            </a:r>
          </a:p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View 8: 3-chain satisfied → command committed</a:t>
            </a:r>
          </a:p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↓</a:t>
            </a:r>
          </a:p>
          <a:p>
            <a:pPr algn="just">
              <a:lnSpc>
                <a:spcPts val="4071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 NOW switch to new config (n=5, f=1)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55777" y="3146867"/>
            <a:ext cx="16303523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 clean API boundary for enhanced flexibility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777" y="4079076"/>
            <a:ext cx="16354130" cy="131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Separates </a:t>
            </a:r>
            <a:r>
              <a:rPr lang="en-US" b="true" sz="218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consensus engine </a:t>
            </a: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from </a:t>
            </a:r>
            <a:r>
              <a:rPr lang="en-US" b="true" sz="218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application logic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Enables multiple applications</a:t>
            </a: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without rewriting protocol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Supports snapshot/export for recovery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5941214"/>
            <a:ext cx="16303523" cy="1708114"/>
            <a:chOff x="0" y="0"/>
            <a:chExt cx="21738031" cy="22774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7955" cy="2277485"/>
            </a:xfrm>
            <a:custGeom>
              <a:avLst/>
              <a:gdLst/>
              <a:ahLst/>
              <a:cxnLst/>
              <a:rect r="r" b="b" t="t" l="l"/>
              <a:pathLst>
                <a:path h="2277485" w="21737955">
                  <a:moveTo>
                    <a:pt x="0" y="308602"/>
                  </a:moveTo>
                  <a:cubicBezTo>
                    <a:pt x="0" y="138254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963" y="0"/>
                    <a:pt x="21737955" y="138254"/>
                    <a:pt x="21737955" y="308602"/>
                  </a:cubicBezTo>
                  <a:lnTo>
                    <a:pt x="21737955" y="1968883"/>
                  </a:lnTo>
                  <a:cubicBezTo>
                    <a:pt x="21737955" y="2139479"/>
                    <a:pt x="21666836" y="2277485"/>
                    <a:pt x="21579205" y="2277485"/>
                  </a:cubicBezTo>
                  <a:lnTo>
                    <a:pt x="158750" y="2277485"/>
                  </a:lnTo>
                  <a:cubicBezTo>
                    <a:pt x="71120" y="2277485"/>
                    <a:pt x="0" y="2139231"/>
                    <a:pt x="0" y="1968883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25153" y="6395408"/>
            <a:ext cx="15764770" cy="530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[Clients] → [State Machine API]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13" id="13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5777" y="728766"/>
            <a:ext cx="14909159" cy="90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5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M3 - Pluggable State Machine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7476" y="683796"/>
            <a:ext cx="8617843" cy="909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M4 - </a:t>
            </a: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Enhanced Pacemaker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412359"/>
            <a:ext cx="16303523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Addressing liveness in dynamic network conditions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194447"/>
            <a:ext cx="16303523" cy="1319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b="true" sz="218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Leader failure stalls progress</a:t>
            </a: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without view changes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Variable </a:t>
            </a:r>
            <a:r>
              <a:rPr lang="en-US" b="true" sz="218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network delay</a:t>
            </a: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causes premature timeouts</a:t>
            </a:r>
          </a:p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Need </a:t>
            </a:r>
            <a:r>
              <a:rPr lang="en-US" b="true" sz="218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adaptive timeouts + leader rotation rules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7476" y="5715743"/>
            <a:ext cx="16313048" cy="2467270"/>
            <a:chOff x="0" y="0"/>
            <a:chExt cx="21750731" cy="32896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0655" cy="3289681"/>
            </a:xfrm>
            <a:custGeom>
              <a:avLst/>
              <a:gdLst/>
              <a:ahLst/>
              <a:cxnLst/>
              <a:rect r="r" b="b" t="t" l="l"/>
              <a:pathLst>
                <a:path h="3289681" w="21750655">
                  <a:moveTo>
                    <a:pt x="0" y="165100"/>
                  </a:moveTo>
                  <a:cubicBezTo>
                    <a:pt x="0" y="73914"/>
                    <a:pt x="74168" y="0"/>
                    <a:pt x="165608" y="0"/>
                  </a:cubicBezTo>
                  <a:lnTo>
                    <a:pt x="21585047" y="0"/>
                  </a:lnTo>
                  <a:lnTo>
                    <a:pt x="21585047" y="6350"/>
                  </a:lnTo>
                  <a:lnTo>
                    <a:pt x="21585047" y="0"/>
                  </a:lnTo>
                  <a:cubicBezTo>
                    <a:pt x="21676486" y="0"/>
                    <a:pt x="21750655" y="73914"/>
                    <a:pt x="21750655" y="165100"/>
                  </a:cubicBezTo>
                  <a:lnTo>
                    <a:pt x="21744305" y="165100"/>
                  </a:lnTo>
                  <a:lnTo>
                    <a:pt x="21750655" y="165100"/>
                  </a:lnTo>
                  <a:lnTo>
                    <a:pt x="21750655" y="3124581"/>
                  </a:lnTo>
                  <a:lnTo>
                    <a:pt x="21744305" y="3124581"/>
                  </a:lnTo>
                  <a:lnTo>
                    <a:pt x="21750655" y="3124581"/>
                  </a:lnTo>
                  <a:cubicBezTo>
                    <a:pt x="21750655" y="3215767"/>
                    <a:pt x="21676486" y="3289681"/>
                    <a:pt x="21585047" y="3289681"/>
                  </a:cubicBezTo>
                  <a:lnTo>
                    <a:pt x="21585047" y="3283331"/>
                  </a:lnTo>
                  <a:lnTo>
                    <a:pt x="21585047" y="3289681"/>
                  </a:lnTo>
                  <a:lnTo>
                    <a:pt x="165608" y="3289681"/>
                  </a:lnTo>
                  <a:lnTo>
                    <a:pt x="165608" y="3283331"/>
                  </a:lnTo>
                  <a:lnTo>
                    <a:pt x="165608" y="3289681"/>
                  </a:lnTo>
                  <a:cubicBezTo>
                    <a:pt x="74168" y="3289681"/>
                    <a:pt x="0" y="3215767"/>
                    <a:pt x="0" y="3124581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124581"/>
                  </a:lnTo>
                  <a:lnTo>
                    <a:pt x="6350" y="3124581"/>
                  </a:lnTo>
                  <a:lnTo>
                    <a:pt x="12700" y="3124581"/>
                  </a:lnTo>
                  <a:cubicBezTo>
                    <a:pt x="12700" y="3208782"/>
                    <a:pt x="81153" y="3276981"/>
                    <a:pt x="165608" y="3276981"/>
                  </a:cubicBezTo>
                  <a:lnTo>
                    <a:pt x="21585047" y="3276981"/>
                  </a:lnTo>
                  <a:cubicBezTo>
                    <a:pt x="21669502" y="3276981"/>
                    <a:pt x="21737955" y="3208782"/>
                    <a:pt x="21737955" y="3124581"/>
                  </a:cubicBezTo>
                  <a:lnTo>
                    <a:pt x="21737955" y="165100"/>
                  </a:lnTo>
                  <a:cubicBezTo>
                    <a:pt x="21737955" y="80899"/>
                    <a:pt x="21669502" y="12700"/>
                    <a:pt x="21585047" y="12700"/>
                  </a:cubicBezTo>
                  <a:lnTo>
                    <a:pt x="165608" y="12700"/>
                  </a:lnTo>
                  <a:lnTo>
                    <a:pt x="165608" y="6350"/>
                  </a:lnTo>
                  <a:lnTo>
                    <a:pt x="165608" y="12700"/>
                  </a:lnTo>
                  <a:cubicBezTo>
                    <a:pt x="81153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763" y="5730030"/>
            <a:ext cx="16284473" cy="812902"/>
            <a:chOff x="0" y="0"/>
            <a:chExt cx="21712631" cy="10838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5580" y="5804897"/>
            <a:ext cx="3499247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61384" y="5804897"/>
            <a:ext cx="3494484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Timeout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32427" y="5804897"/>
            <a:ext cx="3494484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Trigger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503478" y="5804897"/>
            <a:ext cx="3499247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Action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01763" y="6542932"/>
            <a:ext cx="16284473" cy="812902"/>
            <a:chOff x="0" y="0"/>
            <a:chExt cx="21712631" cy="10838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85580" y="6617789"/>
            <a:ext cx="3499247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v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61384" y="6617789"/>
            <a:ext cx="3494484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t0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32427" y="6617789"/>
            <a:ext cx="3494484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leader stalls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503478" y="6617789"/>
            <a:ext cx="3499247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enter new view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01763" y="7355834"/>
            <a:ext cx="16284473" cy="812902"/>
            <a:chOff x="0" y="0"/>
            <a:chExt cx="21712631" cy="10838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12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21712682">
                  <a:moveTo>
                    <a:pt x="0" y="0"/>
                  </a:moveTo>
                  <a:lnTo>
                    <a:pt x="21712682" y="0"/>
                  </a:lnTo>
                  <a:lnTo>
                    <a:pt x="21712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85580" y="7430691"/>
            <a:ext cx="3499247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v+1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61384" y="7430691"/>
            <a:ext cx="3494484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t1&gt;t0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32427" y="7430691"/>
            <a:ext cx="3494484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network delay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03478" y="7430691"/>
            <a:ext cx="3499247" cy="483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1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rotate leader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31" id="31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0009" y="733577"/>
            <a:ext cx="16801108" cy="916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Implementation Methodology - Development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6675" y="2321938"/>
            <a:ext cx="16327041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We will be using an </a:t>
            </a: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incremental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model</a:t>
            </a: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to add the features in phases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0480" y="3155950"/>
            <a:ext cx="16050220" cy="492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2"/>
              </a:lnSpc>
            </a:pPr>
            <a:r>
              <a:rPr lang="en-US" sz="2457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     Key Aspects of the Methodology:</a:t>
            </a:r>
          </a:p>
          <a:p>
            <a:pPr algn="l" marL="370482" indent="-185241" lvl="1">
              <a:lnSpc>
                <a:spcPts val="3932"/>
              </a:lnSpc>
              <a:buFont typeface="Arial"/>
              <a:buChar char="•"/>
            </a:pPr>
            <a:r>
              <a:rPr lang="en-US" b="true" sz="245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Rust Modules:</a:t>
            </a:r>
            <a:r>
              <a:rPr lang="en-US" sz="245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 Each module is aligned with specific protocol components for modularity and maintainability. Enables independent development and testing of features.</a:t>
            </a:r>
          </a:p>
          <a:p>
            <a:pPr algn="l" marL="370482" indent="-185241" lvl="1">
              <a:lnSpc>
                <a:spcPts val="3932"/>
              </a:lnSpc>
              <a:buFont typeface="Arial"/>
              <a:buChar char="•"/>
            </a:pPr>
            <a:r>
              <a:rPr lang="en-US" b="true" sz="2457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Phase Milestones/Modules :</a:t>
            </a:r>
          </a:p>
          <a:p>
            <a:pPr algn="l" marL="1061195" indent="-353732" lvl="2">
              <a:lnSpc>
                <a:spcPts val="3932"/>
              </a:lnSpc>
              <a:buFont typeface="Arial"/>
              <a:buChar char="⚬"/>
            </a:pPr>
            <a:r>
              <a:rPr lang="en-US" sz="245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Core: Basic HotStuff implementation.</a:t>
            </a:r>
          </a:p>
          <a:p>
            <a:pPr algn="l" marL="1061195" indent="-353732" lvl="2">
              <a:lnSpc>
                <a:spcPts val="3932"/>
              </a:lnSpc>
              <a:buFont typeface="Arial"/>
              <a:buChar char="⚬"/>
            </a:pPr>
            <a:r>
              <a:rPr lang="en-US" sz="245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Persistence: Write-Ahead Logging (WAL) and snapshots for crash recovery.</a:t>
            </a:r>
          </a:p>
          <a:p>
            <a:pPr algn="l" marL="1061195" indent="-353732" lvl="2">
              <a:lnSpc>
                <a:spcPts val="3932"/>
              </a:lnSpc>
              <a:buFont typeface="Arial"/>
              <a:buChar char="⚬"/>
            </a:pPr>
            <a:r>
              <a:rPr lang="en-US" sz="245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Membership: Dynamic join/leave operations using quorum certificates.</a:t>
            </a:r>
          </a:p>
          <a:p>
            <a:pPr algn="l" marL="1061195" indent="-353732" lvl="2">
              <a:lnSpc>
                <a:spcPts val="3932"/>
              </a:lnSpc>
              <a:buFont typeface="Arial"/>
              <a:buChar char="⚬"/>
            </a:pPr>
            <a:r>
              <a:rPr lang="en-US" sz="245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Pluggable State Machine: gRPC-based interface for extensible state machines.</a:t>
            </a:r>
          </a:p>
          <a:p>
            <a:pPr algn="l" marL="1061195" indent="-353732" lvl="2">
              <a:lnSpc>
                <a:spcPts val="3932"/>
              </a:lnSpc>
              <a:buFont typeface="Arial"/>
              <a:buChar char="⚬"/>
            </a:pPr>
            <a:r>
              <a:rPr lang="en-US" sz="2457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Pacemaker: Dummy proposals for improved liveness under low client load/leader stalls.</a:t>
            </a:r>
          </a:p>
          <a:p>
            <a:pPr algn="l">
              <a:lnSpc>
                <a:spcPts val="3932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13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14105" y="312929"/>
            <a:ext cx="14942840" cy="9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70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Implementation Methodology - </a:t>
            </a: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Testing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105" y="1535304"/>
            <a:ext cx="16488366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Comprehensive verification for reliability and correctness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0200" y="2143421"/>
            <a:ext cx="16488366" cy="2413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7031" indent="-188515" lvl="1">
              <a:lnSpc>
                <a:spcPts val="3828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Unit tests: crypto, data types, WAL logic</a:t>
            </a:r>
          </a:p>
          <a:p>
            <a:pPr algn="l" marL="377031" indent="-188515" lvl="1">
              <a:lnSpc>
                <a:spcPts val="3828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Protocol tests: QC formation, commit rule, safety invariants</a:t>
            </a:r>
          </a:p>
          <a:p>
            <a:pPr algn="l" marL="377031" indent="-188515" lvl="1">
              <a:lnSpc>
                <a:spcPts val="3828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Network simulation: multi-replica behavior under delays</a:t>
            </a:r>
          </a:p>
          <a:p>
            <a:pPr algn="l" marL="376872" indent="-188436" lvl="1">
              <a:lnSpc>
                <a:spcPts val="3827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Crash recovery: restart correctness across cycles</a:t>
            </a:r>
          </a:p>
          <a:p>
            <a:pPr algn="l" marL="377031" indent="-188515" lvl="1">
              <a:lnSpc>
                <a:spcPts val="3828"/>
              </a:lnSpc>
              <a:buFont typeface="Arial"/>
              <a:buChar char="•"/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Docker-based multi-node system tests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105" y="4792420"/>
            <a:ext cx="16497891" cy="3482130"/>
            <a:chOff x="0" y="0"/>
            <a:chExt cx="21997187" cy="464284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97161" cy="4642866"/>
            </a:xfrm>
            <a:custGeom>
              <a:avLst/>
              <a:gdLst/>
              <a:ahLst/>
              <a:cxnLst/>
              <a:rect r="r" b="b" t="t" l="l"/>
              <a:pathLst>
                <a:path h="4642866" w="21997161">
                  <a:moveTo>
                    <a:pt x="0" y="150368"/>
                  </a:moveTo>
                  <a:cubicBezTo>
                    <a:pt x="0" y="67310"/>
                    <a:pt x="67437" y="0"/>
                    <a:pt x="150622" y="0"/>
                  </a:cubicBezTo>
                  <a:lnTo>
                    <a:pt x="21846539" y="0"/>
                  </a:lnTo>
                  <a:lnTo>
                    <a:pt x="21846539" y="6350"/>
                  </a:lnTo>
                  <a:lnTo>
                    <a:pt x="21846539" y="0"/>
                  </a:lnTo>
                  <a:cubicBezTo>
                    <a:pt x="21929725" y="0"/>
                    <a:pt x="21997161" y="67310"/>
                    <a:pt x="21997161" y="150368"/>
                  </a:cubicBezTo>
                  <a:lnTo>
                    <a:pt x="21990811" y="150368"/>
                  </a:lnTo>
                  <a:lnTo>
                    <a:pt x="21997161" y="150368"/>
                  </a:lnTo>
                  <a:lnTo>
                    <a:pt x="21997161" y="4492498"/>
                  </a:lnTo>
                  <a:lnTo>
                    <a:pt x="21990811" y="4492498"/>
                  </a:lnTo>
                  <a:lnTo>
                    <a:pt x="21997161" y="4492498"/>
                  </a:lnTo>
                  <a:cubicBezTo>
                    <a:pt x="21997161" y="4575556"/>
                    <a:pt x="21929725" y="4642866"/>
                    <a:pt x="21846539" y="4642866"/>
                  </a:cubicBezTo>
                  <a:lnTo>
                    <a:pt x="21846539" y="4636516"/>
                  </a:lnTo>
                  <a:lnTo>
                    <a:pt x="21846539" y="4642866"/>
                  </a:lnTo>
                  <a:lnTo>
                    <a:pt x="150622" y="4642866"/>
                  </a:lnTo>
                  <a:lnTo>
                    <a:pt x="150622" y="4636516"/>
                  </a:lnTo>
                  <a:lnTo>
                    <a:pt x="150622" y="4642866"/>
                  </a:lnTo>
                  <a:cubicBezTo>
                    <a:pt x="67437" y="4642866"/>
                    <a:pt x="0" y="4575556"/>
                    <a:pt x="0" y="4492498"/>
                  </a:cubicBezTo>
                  <a:lnTo>
                    <a:pt x="0" y="150368"/>
                  </a:lnTo>
                  <a:lnTo>
                    <a:pt x="6350" y="150368"/>
                  </a:lnTo>
                  <a:lnTo>
                    <a:pt x="0" y="150368"/>
                  </a:lnTo>
                  <a:moveTo>
                    <a:pt x="12700" y="150368"/>
                  </a:moveTo>
                  <a:lnTo>
                    <a:pt x="12700" y="4492498"/>
                  </a:lnTo>
                  <a:lnTo>
                    <a:pt x="6350" y="4492498"/>
                  </a:lnTo>
                  <a:lnTo>
                    <a:pt x="12700" y="4492498"/>
                  </a:lnTo>
                  <a:cubicBezTo>
                    <a:pt x="12700" y="4568444"/>
                    <a:pt x="74422" y="4630166"/>
                    <a:pt x="150622" y="4630166"/>
                  </a:cubicBezTo>
                  <a:lnTo>
                    <a:pt x="21846539" y="4630166"/>
                  </a:lnTo>
                  <a:cubicBezTo>
                    <a:pt x="21922739" y="4630166"/>
                    <a:pt x="21984461" y="4568571"/>
                    <a:pt x="21984461" y="4492498"/>
                  </a:cubicBezTo>
                  <a:lnTo>
                    <a:pt x="21984461" y="150368"/>
                  </a:lnTo>
                  <a:cubicBezTo>
                    <a:pt x="21984461" y="74422"/>
                    <a:pt x="21922739" y="12700"/>
                    <a:pt x="21846539" y="12700"/>
                  </a:cubicBezTo>
                  <a:lnTo>
                    <a:pt x="150622" y="12700"/>
                  </a:lnTo>
                  <a:lnTo>
                    <a:pt x="150622" y="6350"/>
                  </a:lnTo>
                  <a:lnTo>
                    <a:pt x="150622" y="12700"/>
                  </a:lnTo>
                  <a:cubicBezTo>
                    <a:pt x="74422" y="12700"/>
                    <a:pt x="12700" y="74295"/>
                    <a:pt x="12700" y="150368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8392" y="4806708"/>
            <a:ext cx="16469316" cy="690715"/>
            <a:chOff x="0" y="0"/>
            <a:chExt cx="21959087" cy="9209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59063" cy="921004"/>
            </a:xfrm>
            <a:custGeom>
              <a:avLst/>
              <a:gdLst/>
              <a:ahLst/>
              <a:cxnLst/>
              <a:rect r="r" b="b" t="t" l="l"/>
              <a:pathLst>
                <a:path h="921004" w="21959063">
                  <a:moveTo>
                    <a:pt x="0" y="0"/>
                  </a:moveTo>
                  <a:lnTo>
                    <a:pt x="21959063" y="0"/>
                  </a:lnTo>
                  <a:lnTo>
                    <a:pt x="21959063" y="921004"/>
                  </a:lnTo>
                  <a:lnTo>
                    <a:pt x="0" y="9210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85415" y="4870258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Test 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05785" y="4698448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What it proves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392" y="5497422"/>
            <a:ext cx="16469316" cy="690715"/>
            <a:chOff x="0" y="0"/>
            <a:chExt cx="21959087" cy="9209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59063" cy="921004"/>
            </a:xfrm>
            <a:custGeom>
              <a:avLst/>
              <a:gdLst/>
              <a:ahLst/>
              <a:cxnLst/>
              <a:rect r="r" b="b" t="t" l="l"/>
              <a:pathLst>
                <a:path h="921004" w="21959063">
                  <a:moveTo>
                    <a:pt x="0" y="0"/>
                  </a:moveTo>
                  <a:lnTo>
                    <a:pt x="21959063" y="0"/>
                  </a:lnTo>
                  <a:lnTo>
                    <a:pt x="21959063" y="921004"/>
                  </a:lnTo>
                  <a:lnTo>
                    <a:pt x="0" y="9210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85415" y="5560973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Unit tests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05785" y="5389163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Correctness of individual components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8392" y="6188128"/>
            <a:ext cx="16469316" cy="690715"/>
            <a:chOff x="0" y="0"/>
            <a:chExt cx="21959087" cy="92095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9063" cy="921004"/>
            </a:xfrm>
            <a:custGeom>
              <a:avLst/>
              <a:gdLst/>
              <a:ahLst/>
              <a:cxnLst/>
              <a:rect r="r" b="b" t="t" l="l"/>
              <a:pathLst>
                <a:path h="921004" w="21959063">
                  <a:moveTo>
                    <a:pt x="0" y="0"/>
                  </a:moveTo>
                  <a:lnTo>
                    <a:pt x="21959063" y="0"/>
                  </a:lnTo>
                  <a:lnTo>
                    <a:pt x="21959063" y="921004"/>
                  </a:lnTo>
                  <a:lnTo>
                    <a:pt x="0" y="9210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185415" y="6251679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Protocol tests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05785" y="6079869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Safety (no conflicting commits)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392" y="6878843"/>
            <a:ext cx="16469316" cy="690715"/>
            <a:chOff x="0" y="0"/>
            <a:chExt cx="21959087" cy="9209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959063" cy="921004"/>
            </a:xfrm>
            <a:custGeom>
              <a:avLst/>
              <a:gdLst/>
              <a:ahLst/>
              <a:cxnLst/>
              <a:rect r="r" b="b" t="t" l="l"/>
              <a:pathLst>
                <a:path h="921004" w="21959063">
                  <a:moveTo>
                    <a:pt x="0" y="0"/>
                  </a:moveTo>
                  <a:lnTo>
                    <a:pt x="21959063" y="0"/>
                  </a:lnTo>
                  <a:lnTo>
                    <a:pt x="21959063" y="921004"/>
                  </a:lnTo>
                  <a:lnTo>
                    <a:pt x="0" y="9210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85415" y="6942393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Network simulation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05785" y="6770584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Liveness under network conditions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28392" y="7569558"/>
            <a:ext cx="16469316" cy="690715"/>
            <a:chOff x="0" y="0"/>
            <a:chExt cx="21959087" cy="9209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59063" cy="921004"/>
            </a:xfrm>
            <a:custGeom>
              <a:avLst/>
              <a:gdLst/>
              <a:ahLst/>
              <a:cxnLst/>
              <a:rect r="r" b="b" t="t" l="l"/>
              <a:pathLst>
                <a:path h="921004" w="21959063">
                  <a:moveTo>
                    <a:pt x="0" y="0"/>
                  </a:moveTo>
                  <a:lnTo>
                    <a:pt x="21959063" y="0"/>
                  </a:lnTo>
                  <a:lnTo>
                    <a:pt x="21959063" y="921004"/>
                  </a:lnTo>
                  <a:lnTo>
                    <a:pt x="0" y="921004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185415" y="7633108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Crash recovery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05785" y="7461298"/>
            <a:ext cx="7715841" cy="466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8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Durability and consistency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" b="-1"/>
              </a:stretch>
            </a:blipFill>
          </p:spPr>
        </p:sp>
      </p:grpSp>
      <p:sp>
        <p:nvSpPr>
          <p:cNvPr name="AutoShape 33" id="33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1405899" y="2039103"/>
          <a:ext cx="14790223" cy="6448425"/>
        </p:xfrm>
        <a:graphic>
          <a:graphicData uri="http://schemas.openxmlformats.org/drawingml/2006/table">
            <a:tbl>
              <a:tblPr/>
              <a:tblGrid>
                <a:gridCol w="7466486"/>
                <a:gridCol w="7323737"/>
              </a:tblGrid>
              <a:tr h="6448425"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Persistence (18) — </a:t>
                      </a:r>
                      <a:endParaRPr lang="en-US" sz="1100"/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WAL create/append/read/corrupt/truncate 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Snapshot save/load/checksum/cleanup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Crash recovery from fresh start, WAL-only, snapshot+WAL, and out-of-order replays</a:t>
                      </a:r>
                    </a:p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QC Formation (3) —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≥ 2f+1 signatures enforced 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Ed25519 votes aggregate into valid QC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high_qc updates correctly</a:t>
                      </a:r>
                    </a:p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3-Chain Commit (4) — 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Full chain commits​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Partial chains blocked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Multi-block chains commit in order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272525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No double-commits</a:t>
                      </a:r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Proposal Phase (4) — </a:t>
                      </a:r>
                      <a:endParaRPr lang="en-US" sz="1100"/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Only round-robin leader can propose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Valid proposals accepted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Under-quorum QCs rejected</a:t>
                      </a:r>
                    </a:p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Pacemaker (7) — 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Timeout increments view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lears vote pool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Leader rotation verified across 8 views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Timer resets on proposal and commit</a:t>
                      </a:r>
                    </a:p>
                    <a:p>
                      <a:pPr algn="l" marL="539749" indent="-269875" lvl="1">
                        <a:lnSpc>
                          <a:spcPts val="3499"/>
                        </a:lnSpc>
                        <a:buFont typeface="Arial"/>
                        <a:buChar char="•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Network (3) — 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Send/receive round-trip</a:t>
                      </a:r>
                    </a:p>
                    <a:p>
                      <a:pPr algn="l" marL="1079499" indent="-359833" lvl="2">
                        <a:lnSpc>
                          <a:spcPts val="3499"/>
                        </a:lnSpc>
                        <a:buFont typeface="Arial"/>
                        <a:buChar char="⚬"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Broadcast reaches exactly n−1 replicas</a:t>
                      </a:r>
                    </a:p>
                    <a:p>
                      <a:pPr algn="l">
                        <a:lnSpc>
                          <a:spcPts val="3499"/>
                        </a:lnSpc>
                      </a:pPr>
                    </a:p>
                  </a:txBody>
                  <a:tcPr marL="85725" marR="85725" marT="85725" marB="8572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1405899" y="990600"/>
            <a:ext cx="9333706" cy="71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Results: Test &amp; Simulation Summary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1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2312" y="982948"/>
            <a:ext cx="10954495" cy="909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0"/>
              </a:lnSpc>
            </a:pPr>
            <a:r>
              <a:rPr lang="en-US" sz="5600">
                <a:solidFill>
                  <a:srgbClr val="312F2B"/>
                </a:solidFill>
                <a:latin typeface="Arimo"/>
                <a:ea typeface="Arimo"/>
                <a:cs typeface="Arimo"/>
                <a:sym typeface="Arimo"/>
              </a:rPr>
              <a:t>Roadmap &amp; Success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6076" y="2289624"/>
            <a:ext cx="16043224" cy="445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0"/>
              </a:lnSpc>
            </a:pPr>
            <a:r>
              <a:rPr lang="en-US" sz="2499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Charting the path forward and key success criteria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43177" y="3214545"/>
            <a:ext cx="5530255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12F2B"/>
                </a:solidFill>
                <a:latin typeface="Arimo Bold"/>
                <a:ea typeface="Arimo Bold"/>
                <a:cs typeface="Arimo Bold"/>
                <a:sym typeface="Arimo Bold"/>
              </a:rPr>
              <a:t>Remaining Work + 10-Week Timeline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22312" y="3890372"/>
            <a:ext cx="4914309" cy="2717597"/>
            <a:chOff x="0" y="0"/>
            <a:chExt cx="6552413" cy="36234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52438" cy="3623437"/>
            </a:xfrm>
            <a:custGeom>
              <a:avLst/>
              <a:gdLst/>
              <a:ahLst/>
              <a:cxnLst/>
              <a:rect r="r" b="b" t="t" l="l"/>
              <a:pathLst>
                <a:path h="3623437" w="6552438">
                  <a:moveTo>
                    <a:pt x="0" y="130175"/>
                  </a:moveTo>
                  <a:cubicBezTo>
                    <a:pt x="0" y="58293"/>
                    <a:pt x="58293" y="0"/>
                    <a:pt x="130175" y="0"/>
                  </a:cubicBezTo>
                  <a:lnTo>
                    <a:pt x="6422263" y="0"/>
                  </a:lnTo>
                  <a:cubicBezTo>
                    <a:pt x="6494145" y="0"/>
                    <a:pt x="6552438" y="58293"/>
                    <a:pt x="6552438" y="130175"/>
                  </a:cubicBezTo>
                  <a:lnTo>
                    <a:pt x="6552438" y="3493262"/>
                  </a:lnTo>
                  <a:cubicBezTo>
                    <a:pt x="6552438" y="3565144"/>
                    <a:pt x="6494145" y="3623437"/>
                    <a:pt x="6422263" y="3623437"/>
                  </a:cubicBezTo>
                  <a:lnTo>
                    <a:pt x="130175" y="3623437"/>
                  </a:lnTo>
                  <a:cubicBezTo>
                    <a:pt x="58293" y="3623437"/>
                    <a:pt x="0" y="3565144"/>
                    <a:pt x="0" y="3493262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0701" y="3890372"/>
            <a:ext cx="7567078" cy="4426173"/>
            <a:chOff x="0" y="0"/>
            <a:chExt cx="10089437" cy="5901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89340" cy="5901523"/>
            </a:xfrm>
            <a:custGeom>
              <a:avLst/>
              <a:gdLst/>
              <a:ahLst/>
              <a:cxnLst/>
              <a:rect r="r" b="b" t="t" l="l"/>
              <a:pathLst>
                <a:path h="5901523" w="10089340">
                  <a:moveTo>
                    <a:pt x="0" y="75706"/>
                  </a:moveTo>
                  <a:cubicBezTo>
                    <a:pt x="0" y="33923"/>
                    <a:pt x="31920" y="0"/>
                    <a:pt x="71237" y="0"/>
                  </a:cubicBezTo>
                  <a:lnTo>
                    <a:pt x="10018103" y="0"/>
                  </a:lnTo>
                  <a:cubicBezTo>
                    <a:pt x="10057420" y="0"/>
                    <a:pt x="10089340" y="33923"/>
                    <a:pt x="10089340" y="75706"/>
                  </a:cubicBezTo>
                  <a:lnTo>
                    <a:pt x="10089340" y="5825817"/>
                  </a:lnTo>
                  <a:cubicBezTo>
                    <a:pt x="10089340" y="5867600"/>
                    <a:pt x="10057420" y="5901523"/>
                    <a:pt x="10018103" y="5901523"/>
                  </a:cubicBezTo>
                  <a:lnTo>
                    <a:pt x="71237" y="5901523"/>
                  </a:lnTo>
                  <a:cubicBezTo>
                    <a:pt x="31920" y="5901523"/>
                    <a:pt x="0" y="5867600"/>
                    <a:pt x="0" y="582581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43177" y="4011917"/>
            <a:ext cx="7334601" cy="369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9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Week 1-3: finalize Dynamic Membership integration</a:t>
            </a:r>
          </a:p>
          <a:p>
            <a:pPr algn="l">
              <a:lnSpc>
                <a:spcPts val="3620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Week 4-5: integrating State Machines</a:t>
            </a:r>
          </a:p>
          <a:p>
            <a:pPr algn="l">
              <a:lnSpc>
                <a:spcPts val="3620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Week 6-7: pacemaker tuning + liveness tests</a:t>
            </a:r>
          </a:p>
          <a:p>
            <a:pPr algn="l">
              <a:lnSpc>
                <a:spcPts val="3620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Week 7-8: edge cases + reconfig tests</a:t>
            </a:r>
          </a:p>
          <a:p>
            <a:pPr algn="l">
              <a:lnSpc>
                <a:spcPts val="3620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Week 9-10: final demo + report polishing</a:t>
            </a:r>
          </a:p>
          <a:p>
            <a:pPr algn="l">
              <a:lnSpc>
                <a:spcPts val="3620"/>
              </a:lnSpc>
            </a:pPr>
            <a:r>
              <a:rPr lang="en-US" sz="2499">
                <a:solidFill>
                  <a:srgbClr val="27252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0942" y="3214545"/>
            <a:ext cx="4086774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12F2B"/>
                </a:solidFill>
                <a:latin typeface="Arimo Bold"/>
                <a:ea typeface="Arimo Bold"/>
                <a:cs typeface="Arimo Bold"/>
                <a:sym typeface="Arimo Bold"/>
              </a:rPr>
              <a:t>Success Metrics Checklist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430254" y="3890372"/>
            <a:ext cx="7829046" cy="4269592"/>
            <a:chOff x="0" y="0"/>
            <a:chExt cx="9716784" cy="52990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16809" cy="5299075"/>
            </a:xfrm>
            <a:custGeom>
              <a:avLst/>
              <a:gdLst/>
              <a:ahLst/>
              <a:cxnLst/>
              <a:rect r="r" b="b" t="t" l="l"/>
              <a:pathLst>
                <a:path h="5299075" w="9716809">
                  <a:moveTo>
                    <a:pt x="0" y="136525"/>
                  </a:moveTo>
                  <a:cubicBezTo>
                    <a:pt x="0" y="61087"/>
                    <a:pt x="90601" y="0"/>
                    <a:pt x="202254" y="0"/>
                  </a:cubicBezTo>
                  <a:lnTo>
                    <a:pt x="9514568" y="0"/>
                  </a:lnTo>
                  <a:lnTo>
                    <a:pt x="9514568" y="6350"/>
                  </a:lnTo>
                  <a:lnTo>
                    <a:pt x="9514568" y="0"/>
                  </a:lnTo>
                  <a:cubicBezTo>
                    <a:pt x="9626221" y="0"/>
                    <a:pt x="9716809" y="61087"/>
                    <a:pt x="9716809" y="136525"/>
                  </a:cubicBezTo>
                  <a:lnTo>
                    <a:pt x="9707423" y="136525"/>
                  </a:lnTo>
                  <a:lnTo>
                    <a:pt x="9716809" y="136525"/>
                  </a:lnTo>
                  <a:lnTo>
                    <a:pt x="9716809" y="5162550"/>
                  </a:lnTo>
                  <a:lnTo>
                    <a:pt x="9707423" y="5162550"/>
                  </a:lnTo>
                  <a:lnTo>
                    <a:pt x="9716809" y="5162550"/>
                  </a:lnTo>
                  <a:cubicBezTo>
                    <a:pt x="9716809" y="5237988"/>
                    <a:pt x="9626221" y="5299075"/>
                    <a:pt x="9514568" y="5299075"/>
                  </a:cubicBezTo>
                  <a:lnTo>
                    <a:pt x="9514568" y="5292725"/>
                  </a:lnTo>
                  <a:lnTo>
                    <a:pt x="9514568" y="5299075"/>
                  </a:lnTo>
                  <a:lnTo>
                    <a:pt x="202254" y="5299075"/>
                  </a:lnTo>
                  <a:lnTo>
                    <a:pt x="202254" y="5292725"/>
                  </a:lnTo>
                  <a:lnTo>
                    <a:pt x="202254" y="5299075"/>
                  </a:lnTo>
                  <a:cubicBezTo>
                    <a:pt x="90601" y="5299075"/>
                    <a:pt x="0" y="5237988"/>
                    <a:pt x="0" y="5162550"/>
                  </a:cubicBezTo>
                  <a:lnTo>
                    <a:pt x="0" y="136525"/>
                  </a:lnTo>
                  <a:lnTo>
                    <a:pt x="9398" y="136525"/>
                  </a:lnTo>
                  <a:lnTo>
                    <a:pt x="0" y="136525"/>
                  </a:lnTo>
                  <a:moveTo>
                    <a:pt x="18797" y="136525"/>
                  </a:moveTo>
                  <a:lnTo>
                    <a:pt x="18797" y="5162550"/>
                  </a:lnTo>
                  <a:lnTo>
                    <a:pt x="9398" y="5162550"/>
                  </a:lnTo>
                  <a:lnTo>
                    <a:pt x="18797" y="5162550"/>
                  </a:lnTo>
                  <a:cubicBezTo>
                    <a:pt x="18797" y="5231003"/>
                    <a:pt x="100939" y="5286375"/>
                    <a:pt x="202254" y="5286375"/>
                  </a:cubicBezTo>
                  <a:lnTo>
                    <a:pt x="9514568" y="5286375"/>
                  </a:lnTo>
                  <a:cubicBezTo>
                    <a:pt x="9615883" y="5286375"/>
                    <a:pt x="9698025" y="5230876"/>
                    <a:pt x="9698025" y="5162550"/>
                  </a:cubicBezTo>
                  <a:lnTo>
                    <a:pt x="9698025" y="136525"/>
                  </a:lnTo>
                  <a:cubicBezTo>
                    <a:pt x="9698025" y="68072"/>
                    <a:pt x="9615883" y="12700"/>
                    <a:pt x="9514568" y="12700"/>
                  </a:cubicBezTo>
                  <a:lnTo>
                    <a:pt x="202254" y="12700"/>
                  </a:lnTo>
                  <a:lnTo>
                    <a:pt x="202254" y="6350"/>
                  </a:lnTo>
                  <a:lnTo>
                    <a:pt x="202254" y="12700"/>
                  </a:lnTo>
                  <a:cubicBezTo>
                    <a:pt x="100939" y="12700"/>
                    <a:pt x="18797" y="68199"/>
                    <a:pt x="18797" y="13652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52971" y="3905721"/>
            <a:ext cx="7783611" cy="629628"/>
            <a:chOff x="0" y="0"/>
            <a:chExt cx="9660394" cy="7814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60419" cy="781431"/>
            </a:xfrm>
            <a:custGeom>
              <a:avLst/>
              <a:gdLst/>
              <a:ahLst/>
              <a:cxnLst/>
              <a:rect r="r" b="b" t="t" l="l"/>
              <a:pathLst>
                <a:path h="781431" w="9660419">
                  <a:moveTo>
                    <a:pt x="0" y="0"/>
                  </a:moveTo>
                  <a:lnTo>
                    <a:pt x="9660419" y="0"/>
                  </a:lnTo>
                  <a:lnTo>
                    <a:pt x="9660419" y="781431"/>
                  </a:lnTo>
                  <a:lnTo>
                    <a:pt x="0" y="781431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22601" y="3972071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Metric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21979" y="3972071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 b="true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Pass Criteria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52971" y="4535349"/>
            <a:ext cx="7783611" cy="993206"/>
            <a:chOff x="0" y="0"/>
            <a:chExt cx="9660394" cy="12326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60419" cy="1232662"/>
            </a:xfrm>
            <a:custGeom>
              <a:avLst/>
              <a:gdLst/>
              <a:ahLst/>
              <a:cxnLst/>
              <a:rect r="r" b="b" t="t" l="l"/>
              <a:pathLst>
                <a:path h="1232662" w="9660419">
                  <a:moveTo>
                    <a:pt x="0" y="0"/>
                  </a:moveTo>
                  <a:lnTo>
                    <a:pt x="9660419" y="0"/>
                  </a:lnTo>
                  <a:lnTo>
                    <a:pt x="9660419" y="1232662"/>
                  </a:lnTo>
                  <a:lnTo>
                    <a:pt x="0" y="1232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822601" y="4601699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Safety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44777" y="4601699"/>
            <a:ext cx="3522161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No conflicting commits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452971" y="5528555"/>
            <a:ext cx="7783611" cy="774141"/>
            <a:chOff x="0" y="0"/>
            <a:chExt cx="9660394" cy="96080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60419" cy="960782"/>
            </a:xfrm>
            <a:custGeom>
              <a:avLst/>
              <a:gdLst/>
              <a:ahLst/>
              <a:cxnLst/>
              <a:rect r="r" b="b" t="t" l="l"/>
              <a:pathLst>
                <a:path h="960782" w="9660419">
                  <a:moveTo>
                    <a:pt x="0" y="0"/>
                  </a:moveTo>
                  <a:lnTo>
                    <a:pt x="9660419" y="0"/>
                  </a:lnTo>
                  <a:lnTo>
                    <a:pt x="9660419" y="960782"/>
                  </a:lnTo>
                  <a:lnTo>
                    <a:pt x="0" y="96078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822601" y="5594905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Recovery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44777" y="5594905"/>
            <a:ext cx="3522161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Restart preserves state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452971" y="6388421"/>
            <a:ext cx="7783611" cy="762978"/>
            <a:chOff x="0" y="0"/>
            <a:chExt cx="9660394" cy="9469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60419" cy="946932"/>
            </a:xfrm>
            <a:custGeom>
              <a:avLst/>
              <a:gdLst/>
              <a:ahLst/>
              <a:cxnLst/>
              <a:rect r="r" b="b" t="t" l="l"/>
              <a:pathLst>
                <a:path h="946932" w="9660419">
                  <a:moveTo>
                    <a:pt x="0" y="0"/>
                  </a:moveTo>
                  <a:lnTo>
                    <a:pt x="9660419" y="0"/>
                  </a:lnTo>
                  <a:lnTo>
                    <a:pt x="9660419" y="946932"/>
                  </a:lnTo>
                  <a:lnTo>
                    <a:pt x="0" y="9469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22601" y="6588121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Liveness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44777" y="6588436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Commits continue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452971" y="7151399"/>
            <a:ext cx="7783611" cy="993206"/>
            <a:chOff x="0" y="0"/>
            <a:chExt cx="9660394" cy="12326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60419" cy="1232662"/>
            </a:xfrm>
            <a:custGeom>
              <a:avLst/>
              <a:gdLst/>
              <a:ahLst/>
              <a:cxnLst/>
              <a:rect r="r" b="b" t="t" l="l"/>
              <a:pathLst>
                <a:path h="1232662" w="9660419">
                  <a:moveTo>
                    <a:pt x="0" y="0"/>
                  </a:moveTo>
                  <a:lnTo>
                    <a:pt x="9660419" y="0"/>
                  </a:lnTo>
                  <a:lnTo>
                    <a:pt x="9660419" y="1232662"/>
                  </a:lnTo>
                  <a:lnTo>
                    <a:pt x="0" y="1232662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770942" y="7355285"/>
            <a:ext cx="314495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Reconfig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44769" y="7378084"/>
            <a:ext cx="3899378" cy="473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9"/>
              </a:lnSpc>
            </a:pPr>
            <a:r>
              <a:rPr lang="en-US" sz="2685">
                <a:solidFill>
                  <a:srgbClr val="272525"/>
                </a:solidFill>
                <a:latin typeface="Lato"/>
                <a:ea typeface="Lato"/>
                <a:cs typeface="Lato"/>
                <a:sym typeface="Lato"/>
              </a:rPr>
              <a:t>Join/leave quorum safety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1"/>
              </a:stretch>
            </a:blipFill>
          </p:spPr>
        </p:sp>
      </p:grpSp>
      <p:sp>
        <p:nvSpPr>
          <p:cNvPr name="AutoShape 35" id="35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27760" y="461645"/>
            <a:ext cx="3637439" cy="99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570385"/>
            <a:ext cx="16884897" cy="743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1] M. Yin, D. Malkhi, M. K. Reiter, G. G. Gueta, and I. Abraham,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2" tooltip="https://arxiv.org/abs/1803.05069"/>
              </a:rPr>
              <a:t>HotStuff: BFT Consensus in the Lens of Blockchain,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[2] M. Castro and B. Liskov,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3" tooltip="https://css.csail.mit.edu/6.824/2014/papers/castro-practicalbft.pdf"/>
              </a:rPr>
              <a:t>Practical Byzantine Fault Tolerance,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[3] D. Ongaro and J. K. Ousterhout,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4" tooltip="https://raft.github.io/raft.pdf"/>
              </a:rPr>
              <a:t>In Search of an Understandable Consensus Algorithm,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[4] D. Kang et al.,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5" tooltip="https://arxiv.org/pdf/2408.04728"/>
              </a:rPr>
              <a:t>HotStuff-1: Linear Consensus with One-Phase Speculation,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[5] I. Abraham, D. Malkhi, K. Nayak, L. Ren, and M. Yin, ”S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6" tooltip="https://doi.org/10.1016/j.sysarc.2025.103056"/>
              </a:rPr>
              <a:t>ync-HotStuff: Simple and Practical Synchronous State Machine</a:t>
            </a:r>
          </a:p>
          <a:p>
            <a:pPr algn="l">
              <a:lnSpc>
                <a:spcPts val="3499"/>
              </a:lnSpc>
            </a:pP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7" tooltip="https://doi.org/10.1016/j.sysarc.2025.103056"/>
              </a:rPr>
              <a:t>Replication,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[6] H. Guo et al.,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8" tooltip="https://www.sciencedirect.com/science/article/pii/S138376212500058X/pdfft?crasolve=1&amp;r=9d70d91eef57e0c2&amp;ts=1772626964340&amp;rtype=https&amp;vrr=UKN&amp;redir=UKN&amp;redir_fr=UKN&amp;redir_arc=UKN&amp;vhash=UKN&amp;host=d3d3LnNjaWVuY2VkaXJlY3QuY29t&amp;tsoh=d3d3LnNjaWVuY2VkaXJlY3QuY29t&amp;rh=d3d3LnNjaWVuY2VkaXJlY3QuY29t&amp;re=X2JsYW5rXw%3D%3D&amp;ns_h=d3d3LnNjaWVuY2VkaXJlY3QuY29t&amp;ns_e=X2JsYW5rXw%3D%3D&amp;rh_fd=rrr)n%5Ed%60i%5E%60_dm%60%5Eo)%5Ejh&amp;tsoh_fd=rrr)n%5Ed%60i%5E%60_dm%60%5Eo)%5Ejh&amp;hc=~rrr)n%5Ed%60i%5E%60_dm%60%5Eo)%5Ejhwrrr)n%5Ed%60i%5E%60_dm%60%5Eo)%5Ejhwrrr)n%5Ed%60i%5E%60_dm%60%5Eo)%5Ejh&amp;iv=e34aa262b09bbcb982b0dd790d542403&amp;token=34653861323766326238656539323934623231373264376264666339313935353363616233353837373633623666356336643630373831663562316134346635326562656166356364323964633333373261383636633730383539373463636164323064353234636461366531313032313835313233306234376135643235313a666161333235343236343332366539336336613639643734&amp;text=5d71565eeea180e071626be7d4ec4cafeddbfdc32715fac4ebb4b0cb7109d5875aa147daffaefe862fdab1a1461b9bd8bcc48c2eeb5eba0de4d118fe972724edf46f36fd42ea87873f37aa10596dba57749182badd89a746461502b35cdf05e4d93fb7739c379937c0d13fa38f6e063f7c4211c8c3338c6f72521c5446cf8414195fa3e4ce000a9f3d8872b5d10023d28e79008b4d08e65fb90927de325379ce6a8702087dd240f39b1fc1bd29bce2f670648523bfd21dca75fbc01953dea3601b6de3c1ddc5aa2412f034388511844d346c2dbec6043983bc13447ff8be2430887f7663fd72a9d4fd6ce2fd542127cda8c360012b83eb7e7915af99ce0b2c2a636338cf9b4c670af72e25764aafa14beec454e04379d13ba627b32ea9c7c0955bc919dc1b6af5d091a534f5ea97cfb7&amp;original=3f6d64353d6565386232333338306365643031346232326236623666656430666436653336267069643d312d73322e302d53313338333736323132353030303538582d6d61696e2e706466&amp;chkp=1c&amp;rack=9d70d91eef57e0c2"/>
              </a:rPr>
              <a:t>DynaNet: A Dynamic BFT Consensus Framework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[7] StanfordCS244B,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9" tooltip="https://www.scs.stanford.edu/24sp-cs244b/projects/HotStuff_Implementation_and_Advice.pdf"/>
              </a:rPr>
              <a:t>HotStuff Implementation and Advice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[8] J. Kwon,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10" tooltip="https://tendermint.com/static/docs/tendermint.pdf"/>
              </a:rPr>
              <a:t>Tendermint: Consensus Without Mining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[9]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11" tooltip="https://grpc.io"/>
              </a:rPr>
              <a:t>gRPC: A High Performance, Open Source Universal RPC Framework.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[10] C. Dwork, N. Lynch, and L. Stockmeyer,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12" tooltip="https://dl.acm.org/doi/10.1145/42282.42283"/>
              </a:rPr>
              <a:t>Consensus in the Presence of Partial Synchrony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[11] Brendel, Jacqueline and Cremers, Cas and Jackson, Dennis and Zhao, Mang,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13" tooltip="https://ieeexplore.ieee.org/document/9519456"/>
              </a:rPr>
              <a:t>The Provable Security of Ed25519: Theory and Practice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[12] Chaudhuri Kaustuv, Doligez Damien, Lamport Leslie, Merz Stephan ”</a:t>
            </a:r>
            <a:r>
              <a:rPr lang="en-US" sz="2499" u="sng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14" tooltip="https://www.researchgate.net/publication/%20220896380_A_TLA_proof_system"/>
              </a:rPr>
              <a:t>A TLA+ proof system</a:t>
            </a:r>
            <a:r>
              <a:rPr lang="en-US" sz="249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3" b="-1"/>
              </a:stretch>
            </a:blipFill>
          </p:spPr>
        </p:sp>
      </p:grpSp>
      <p:sp>
        <p:nvSpPr>
          <p:cNvPr name="AutoShape 6" id="6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16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17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475" y="8836885"/>
            <a:ext cx="1317450" cy="1450115"/>
            <a:chOff x="0" y="0"/>
            <a:chExt cx="1756600" cy="19334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6537" cy="1933448"/>
            </a:xfrm>
            <a:custGeom>
              <a:avLst/>
              <a:gdLst/>
              <a:ahLst/>
              <a:cxnLst/>
              <a:rect r="r" b="b" t="t" l="l"/>
              <a:pathLst>
                <a:path h="1933448" w="1756537">
                  <a:moveTo>
                    <a:pt x="0" y="0"/>
                  </a:moveTo>
                  <a:lnTo>
                    <a:pt x="1756537" y="0"/>
                  </a:lnTo>
                  <a:lnTo>
                    <a:pt x="1756537" y="1933448"/>
                  </a:lnTo>
                  <a:lnTo>
                    <a:pt x="0" y="1933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" b="-1"/>
              </a:stretch>
            </a:blipFill>
          </p:spPr>
        </p:sp>
      </p:grpSp>
      <p:sp>
        <p:nvSpPr>
          <p:cNvPr name="AutoShape 4" id="4"/>
          <p:cNvSpPr/>
          <p:nvPr/>
        </p:nvSpPr>
        <p:spPr>
          <a:xfrm flipV="true">
            <a:off x="7" y="8658978"/>
            <a:ext cx="18383244" cy="2831"/>
          </a:xfrm>
          <a:prstGeom prst="line">
            <a:avLst/>
          </a:prstGeom>
          <a:ln cap="rnd" w="95250">
            <a:solidFill>
              <a:srgbClr val="00206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563033" y="8938184"/>
            <a:ext cx="15161924" cy="130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 and Information Technology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School of Computational Sciences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COEP Technological University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4864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Arial"/>
                  <a:ea typeface="Arial"/>
                  <a:cs typeface="Arial"/>
                  <a:sym typeface="Arial"/>
                </a:rPr>
                <a:t>18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88925" y="9604534"/>
            <a:ext cx="1230610" cy="340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1800">
                <a:solidFill>
                  <a:srgbClr val="818285"/>
                </a:solidFill>
                <a:latin typeface="Lato"/>
                <a:ea typeface="Lato"/>
                <a:cs typeface="Lato"/>
                <a:sym typeface="Lato"/>
              </a:rPr>
              <a:t>05-03-2026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669327" y="3091185"/>
            <a:ext cx="6482239" cy="282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79"/>
              </a:lnSpc>
            </a:pPr>
            <a:r>
              <a:rPr lang="en-US" sz="101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Thank You!</a:t>
            </a:r>
          </a:p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DAHC-aywU8I</dc:identifier>
  <dcterms:modified xsi:type="dcterms:W3CDTF">2011-08-01T06:04:30Z</dcterms:modified>
  <cp:revision>1</cp:revision>
  <dc:title>PersistHotStuff-RST-Production-Oriented-HotStuff-BFT-Consensus.pptx</dc:title>
</cp:coreProperties>
</file>